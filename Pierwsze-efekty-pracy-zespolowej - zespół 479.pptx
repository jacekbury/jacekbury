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3" roundtripDataSignature="AMtx7mgcE8zdEsBfMaKUA9iqz2XcZ4Z9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11" Type="http://schemas.openxmlformats.org/officeDocument/2006/relationships/slide" Target="slides/slide6.xml"/><Relationship Id="rId22" Type="http://schemas.openxmlformats.org/officeDocument/2006/relationships/font" Target="fonts/Raleway-boldItalic.fntdata"/><Relationship Id="rId10" Type="http://schemas.openxmlformats.org/officeDocument/2006/relationships/slide" Target="slides/slide5.xml"/><Relationship Id="rId21" Type="http://schemas.openxmlformats.org/officeDocument/2006/relationships/font" Target="fonts/Raleway-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1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1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1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PL"/>
              <a:t>‹#›</a:t>
            </a:fld>
            <a:endParaRPr/>
          </a:p>
        </p:txBody>
      </p:sp>
      <p:sp>
        <p:nvSpPr>
          <p:cNvPr id="9" name="Google Shape;9;p4"/>
          <p:cNvSpPr txBox="1"/>
          <p:nvPr/>
        </p:nvSpPr>
        <p:spPr>
          <a:xfrm>
            <a:off x="63500" y="63500"/>
            <a:ext cx="57467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pl-PL" sz="1000" u="none" cap="none" strike="noStrike">
                <a:solidFill>
                  <a:srgbClr val="000000"/>
                </a:solidFill>
                <a:latin typeface="Arial"/>
                <a:ea typeface="Arial"/>
                <a:cs typeface="Arial"/>
                <a:sym typeface="Arial"/>
              </a:rPr>
              <a:t>Classified</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3.png"/><Relationship Id="rId11" Type="http://schemas.openxmlformats.org/officeDocument/2006/relationships/image" Target="../media/image13.png"/><Relationship Id="rId10" Type="http://schemas.openxmlformats.org/officeDocument/2006/relationships/image" Target="../media/image11.png"/><Relationship Id="rId12" Type="http://schemas.openxmlformats.org/officeDocument/2006/relationships/image" Target="../media/image16.pn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6.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id="55" name="Google Shape;55;p1" title="Szablon prezentacji dla uczestników (1).png"/>
          <p:cNvPicPr preferRelativeResize="0"/>
          <p:nvPr/>
        </p:nvPicPr>
        <p:blipFill rotWithShape="1">
          <a:blip r:embed="rId3">
            <a:alphaModFix/>
          </a:blip>
          <a:srcRect b="0" l="0" r="0" t="0"/>
          <a:stretch/>
        </p:blipFill>
        <p:spPr>
          <a:xfrm>
            <a:off x="0" y="0"/>
            <a:ext cx="9143990" cy="5143500"/>
          </a:xfrm>
          <a:prstGeom prst="rect">
            <a:avLst/>
          </a:prstGeom>
          <a:noFill/>
          <a:ln>
            <a:noFill/>
          </a:ln>
        </p:spPr>
      </p:pic>
      <p:sp>
        <p:nvSpPr>
          <p:cNvPr id="56" name="Google Shape;56;p1"/>
          <p:cNvSpPr txBox="1"/>
          <p:nvPr>
            <p:ph idx="1" type="subTitle"/>
          </p:nvPr>
        </p:nvSpPr>
        <p:spPr>
          <a:xfrm>
            <a:off x="378725" y="4279450"/>
            <a:ext cx="8520600" cy="4281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2800"/>
              <a:buNone/>
            </a:pPr>
            <a:r>
              <a:rPr lang="pl-PL" sz="1500">
                <a:solidFill>
                  <a:schemeClr val="lt1"/>
                </a:solidFill>
                <a:latin typeface="Raleway"/>
                <a:ea typeface="Raleway"/>
                <a:cs typeface="Raleway"/>
                <a:sym typeface="Raleway"/>
              </a:rPr>
              <a:t>listopad 2025 </a:t>
            </a:r>
            <a:endParaRPr sz="1500">
              <a:solidFill>
                <a:schemeClr val="lt1"/>
              </a:solidFill>
              <a:latin typeface="Raleway"/>
              <a:ea typeface="Raleway"/>
              <a:cs typeface="Raleway"/>
              <a:sym typeface="Raleway"/>
            </a:endParaRPr>
          </a:p>
        </p:txBody>
      </p:sp>
      <p:pic>
        <p:nvPicPr>
          <p:cNvPr id="57" name="Google Shape;57;p1" title="Szablon prezentacji dla uczestników (2).png"/>
          <p:cNvPicPr preferRelativeResize="0"/>
          <p:nvPr/>
        </p:nvPicPr>
        <p:blipFill rotWithShape="1">
          <a:blip r:embed="rId4">
            <a:alphaModFix/>
          </a:blip>
          <a:srcRect b="10381" l="0" r="0" t="83880"/>
          <a:stretch/>
        </p:blipFill>
        <p:spPr>
          <a:xfrm>
            <a:off x="-32850" y="4777850"/>
            <a:ext cx="9144000" cy="261549"/>
          </a:xfrm>
          <a:prstGeom prst="rect">
            <a:avLst/>
          </a:prstGeom>
          <a:noFill/>
          <a:ln>
            <a:noFill/>
          </a:ln>
        </p:spPr>
      </p:pic>
      <p:pic>
        <p:nvPicPr>
          <p:cNvPr id="58" name="Google Shape;58;p1" title="Szablon prezentacji dla uczestników (3).png"/>
          <p:cNvPicPr preferRelativeResize="0"/>
          <p:nvPr/>
        </p:nvPicPr>
        <p:blipFill rotWithShape="1">
          <a:blip r:embed="rId5">
            <a:alphaModFix/>
          </a:blip>
          <a:srcRect b="85524" l="0" r="0" t="0"/>
          <a:stretch/>
        </p:blipFill>
        <p:spPr>
          <a:xfrm>
            <a:off x="0" y="0"/>
            <a:ext cx="9144000" cy="744576"/>
          </a:xfrm>
          <a:prstGeom prst="rect">
            <a:avLst/>
          </a:prstGeom>
          <a:noFill/>
          <a:ln>
            <a:noFill/>
          </a:ln>
        </p:spPr>
      </p:pic>
      <p:sp>
        <p:nvSpPr>
          <p:cNvPr id="59" name="Google Shape;59;p1"/>
          <p:cNvSpPr txBox="1"/>
          <p:nvPr>
            <p:ph idx="1" type="subTitle"/>
          </p:nvPr>
        </p:nvSpPr>
        <p:spPr>
          <a:xfrm>
            <a:off x="378725" y="3982213"/>
            <a:ext cx="8520600" cy="4281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2800"/>
              <a:buNone/>
            </a:pPr>
            <a:r>
              <a:rPr lang="pl-PL" sz="1500">
                <a:solidFill>
                  <a:schemeClr val="lt1"/>
                </a:solidFill>
                <a:latin typeface="Raleway"/>
                <a:ea typeface="Raleway"/>
                <a:cs typeface="Raleway"/>
                <a:sym typeface="Raleway"/>
              </a:rPr>
              <a:t>Team-479</a:t>
            </a:r>
            <a:endParaRPr sz="1500">
              <a:solidFill>
                <a:schemeClr val="lt1"/>
              </a:solidFill>
              <a:latin typeface="Raleway"/>
              <a:ea typeface="Raleway"/>
              <a:cs typeface="Raleway"/>
              <a:sym typeface="Raleway"/>
            </a:endParaRPr>
          </a:p>
        </p:txBody>
      </p:sp>
      <p:sp>
        <p:nvSpPr>
          <p:cNvPr id="60" name="Google Shape;60;p1"/>
          <p:cNvSpPr/>
          <p:nvPr/>
        </p:nvSpPr>
        <p:spPr>
          <a:xfrm>
            <a:off x="243840" y="1315056"/>
            <a:ext cx="8412480" cy="184665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800"/>
              <a:buFont typeface="Arial"/>
              <a:buNone/>
            </a:pPr>
            <a:r>
              <a:rPr b="0" i="0" lang="pl-PL" sz="3800" u="none" cap="none" strike="noStrike">
                <a:solidFill>
                  <a:srgbClr val="FF9000"/>
                </a:solidFill>
                <a:latin typeface="Raleway"/>
                <a:ea typeface="Raleway"/>
                <a:cs typeface="Raleway"/>
                <a:sym typeface="Raleway"/>
              </a:rPr>
              <a:t>Jak wykorzystać AI </a:t>
            </a:r>
            <a:endParaRPr b="0" i="0" sz="3800" u="none" cap="none" strike="noStrike">
              <a:solidFill>
                <a:srgbClr val="FF9000"/>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3800"/>
              <a:buFont typeface="Arial"/>
              <a:buNone/>
            </a:pPr>
            <a:r>
              <a:rPr b="0" i="0" lang="pl-PL" sz="3800" u="none" cap="none" strike="noStrike">
                <a:solidFill>
                  <a:srgbClr val="FF9000"/>
                </a:solidFill>
                <a:latin typeface="Raleway"/>
                <a:ea typeface="Raleway"/>
                <a:cs typeface="Raleway"/>
                <a:sym typeface="Raleway"/>
              </a:rPr>
              <a:t>do prognozowania i analizy cen surowców oraz ofert dostawców?</a:t>
            </a:r>
            <a:endParaRPr b="0" i="0" sz="3800" u="none" cap="none" strike="noStrike">
              <a:solidFill>
                <a:srgbClr val="FF9000"/>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2" title="Szablon prezentacji dla uczestników (4).png"/>
          <p:cNvPicPr preferRelativeResize="0"/>
          <p:nvPr/>
        </p:nvPicPr>
        <p:blipFill rotWithShape="1">
          <a:blip r:embed="rId3">
            <a:alphaModFix/>
          </a:blip>
          <a:srcRect b="25733" l="72080" r="1595" t="10566"/>
          <a:stretch/>
        </p:blipFill>
        <p:spPr>
          <a:xfrm>
            <a:off x="3396276" y="954717"/>
            <a:ext cx="5747724" cy="2801944"/>
          </a:xfrm>
          <a:prstGeom prst="rect">
            <a:avLst/>
          </a:prstGeom>
          <a:noFill/>
          <a:ln>
            <a:noFill/>
          </a:ln>
        </p:spPr>
      </p:pic>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pl-PL">
                <a:solidFill>
                  <a:srgbClr val="672ED0"/>
                </a:solidFill>
                <a:latin typeface="Raleway"/>
                <a:ea typeface="Raleway"/>
                <a:cs typeface="Raleway"/>
                <a:sym typeface="Raleway"/>
              </a:rPr>
              <a:t>Kosmiczna mapa misji: cele </a:t>
            </a:r>
            <a:endParaRPr b="1">
              <a:solidFill>
                <a:srgbClr val="672ED0"/>
              </a:solidFill>
              <a:latin typeface="Raleway"/>
              <a:ea typeface="Raleway"/>
              <a:cs typeface="Raleway"/>
              <a:sym typeface="Raleway"/>
            </a:endParaRPr>
          </a:p>
        </p:txBody>
      </p:sp>
      <p:pic>
        <p:nvPicPr>
          <p:cNvPr id="67" name="Google Shape;67;p2" title="Szablon prezentacji dla uczestników.png"/>
          <p:cNvPicPr preferRelativeResize="0"/>
          <p:nvPr/>
        </p:nvPicPr>
        <p:blipFill rotWithShape="1">
          <a:blip r:embed="rId4">
            <a:alphaModFix/>
          </a:blip>
          <a:srcRect b="85600" l="0" r="0" t="0"/>
          <a:stretch/>
        </p:blipFill>
        <p:spPr>
          <a:xfrm>
            <a:off x="0" y="4402875"/>
            <a:ext cx="9144000" cy="740626"/>
          </a:xfrm>
          <a:prstGeom prst="rect">
            <a:avLst/>
          </a:prstGeom>
          <a:noFill/>
          <a:ln>
            <a:noFill/>
          </a:ln>
        </p:spPr>
      </p:pic>
      <p:pic>
        <p:nvPicPr>
          <p:cNvPr id="68" name="Google Shape;68;p2" title="Szablon prezentacji dla uczestników (4).png"/>
          <p:cNvPicPr preferRelativeResize="0"/>
          <p:nvPr/>
        </p:nvPicPr>
        <p:blipFill rotWithShape="1">
          <a:blip r:embed="rId3">
            <a:alphaModFix/>
          </a:blip>
          <a:srcRect b="25733" l="72080" r="1595" t="10566"/>
          <a:stretch/>
        </p:blipFill>
        <p:spPr>
          <a:xfrm>
            <a:off x="311700" y="954716"/>
            <a:ext cx="3348086" cy="2801945"/>
          </a:xfrm>
          <a:prstGeom prst="rect">
            <a:avLst/>
          </a:prstGeom>
          <a:noFill/>
          <a:ln>
            <a:noFill/>
          </a:ln>
        </p:spPr>
      </p:pic>
      <p:sp>
        <p:nvSpPr>
          <p:cNvPr id="69" name="Google Shape;69;p2"/>
          <p:cNvSpPr/>
          <p:nvPr/>
        </p:nvSpPr>
        <p:spPr>
          <a:xfrm>
            <a:off x="407206" y="1440014"/>
            <a:ext cx="2989070" cy="1384995"/>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Clr>
                <a:srgbClr val="000000"/>
              </a:buClr>
              <a:buSzPts val="1200"/>
              <a:buFont typeface="Arial"/>
              <a:buNone/>
            </a:pPr>
            <a:r>
              <a:rPr b="1" i="0" lang="pl-PL" sz="1200" u="none" cap="none" strike="noStrike">
                <a:solidFill>
                  <a:schemeClr val="dk1"/>
                </a:solidFill>
                <a:latin typeface="Raleway"/>
                <a:ea typeface="Raleway"/>
                <a:cs typeface="Raleway"/>
                <a:sym typeface="Raleway"/>
              </a:rPr>
              <a:t>OBJECTIVE</a:t>
            </a:r>
            <a:endParaRPr b="1" i="0" sz="1200" u="none" cap="none" strike="noStrike">
              <a:solidFill>
                <a:schemeClr val="dk1"/>
              </a:solidFill>
              <a:latin typeface="Raleway"/>
              <a:ea typeface="Raleway"/>
              <a:cs typeface="Raleway"/>
              <a:sym typeface="Raleway"/>
            </a:endParaRPr>
          </a:p>
          <a:p>
            <a:pPr indent="0" lvl="0" marL="11430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Raleway"/>
              <a:ea typeface="Raleway"/>
              <a:cs typeface="Raleway"/>
              <a:sym typeface="Raleway"/>
            </a:endParaRPr>
          </a:p>
          <a:p>
            <a:pPr indent="0" lvl="0" marL="114300" marR="0" rtl="0" algn="l">
              <a:lnSpc>
                <a:spcPct val="100000"/>
              </a:lnSpc>
              <a:spcBef>
                <a:spcPts val="0"/>
              </a:spcBef>
              <a:spcAft>
                <a:spcPts val="0"/>
              </a:spcAft>
              <a:buClr>
                <a:srgbClr val="000000"/>
              </a:buClr>
              <a:buSzPts val="1200"/>
              <a:buFont typeface="Arial"/>
              <a:buNone/>
            </a:pPr>
            <a:r>
              <a:rPr b="0" i="0" lang="pl-PL" sz="1200" u="none" cap="none" strike="noStrike">
                <a:solidFill>
                  <a:schemeClr val="dk1"/>
                </a:solidFill>
                <a:latin typeface="Raleway"/>
                <a:ea typeface="Raleway"/>
                <a:cs typeface="Raleway"/>
                <a:sym typeface="Raleway"/>
              </a:rPr>
              <a:t>Zoptymalizowanie procesu zakupowego oraz umożliwienie podejmowania szybszych </a:t>
            </a:r>
            <a:endParaRPr b="0" i="0" sz="1200" u="none" cap="none" strike="noStrike">
              <a:solidFill>
                <a:schemeClr val="dk1"/>
              </a:solidFill>
              <a:latin typeface="Raleway"/>
              <a:ea typeface="Raleway"/>
              <a:cs typeface="Raleway"/>
              <a:sym typeface="Raleway"/>
            </a:endParaRPr>
          </a:p>
          <a:p>
            <a:pPr indent="0" lvl="0" marL="114300" marR="0" rtl="0" algn="l">
              <a:lnSpc>
                <a:spcPct val="100000"/>
              </a:lnSpc>
              <a:spcBef>
                <a:spcPts val="0"/>
              </a:spcBef>
              <a:spcAft>
                <a:spcPts val="0"/>
              </a:spcAft>
              <a:buClr>
                <a:srgbClr val="000000"/>
              </a:buClr>
              <a:buSzPts val="1200"/>
              <a:buFont typeface="Arial"/>
              <a:buNone/>
            </a:pPr>
            <a:r>
              <a:rPr b="0" i="0" lang="pl-PL" sz="1200" u="none" cap="none" strike="noStrike">
                <a:solidFill>
                  <a:schemeClr val="dk1"/>
                </a:solidFill>
                <a:latin typeface="Raleway"/>
                <a:ea typeface="Raleway"/>
                <a:cs typeface="Raleway"/>
                <a:sym typeface="Raleway"/>
              </a:rPr>
              <a:t>i trafniejszych decyzji biznesowych </a:t>
            </a:r>
            <a:endParaRPr b="0" i="0" sz="1200" u="none" cap="none" strike="noStrike">
              <a:solidFill>
                <a:schemeClr val="dk1"/>
              </a:solidFill>
              <a:latin typeface="Raleway"/>
              <a:ea typeface="Raleway"/>
              <a:cs typeface="Raleway"/>
              <a:sym typeface="Raleway"/>
            </a:endParaRPr>
          </a:p>
          <a:p>
            <a:pPr indent="0" lvl="0" marL="114300" marR="0" rtl="0" algn="l">
              <a:lnSpc>
                <a:spcPct val="100000"/>
              </a:lnSpc>
              <a:spcBef>
                <a:spcPts val="0"/>
              </a:spcBef>
              <a:spcAft>
                <a:spcPts val="0"/>
              </a:spcAft>
              <a:buClr>
                <a:srgbClr val="000000"/>
              </a:buClr>
              <a:buSzPts val="1200"/>
              <a:buFont typeface="Arial"/>
              <a:buNone/>
            </a:pPr>
            <a:r>
              <a:rPr b="0" i="0" lang="pl-PL" sz="1200" u="none" cap="none" strike="noStrike">
                <a:solidFill>
                  <a:schemeClr val="dk1"/>
                </a:solidFill>
                <a:latin typeface="Raleway"/>
                <a:ea typeface="Raleway"/>
                <a:cs typeface="Raleway"/>
                <a:sym typeface="Raleway"/>
              </a:rPr>
              <a:t>z wykorzystaniem rozwiązań AI</a:t>
            </a:r>
            <a:r>
              <a:rPr b="0" i="0" lang="pl-PL" sz="1000" u="none" cap="none" strike="noStrike">
                <a:solidFill>
                  <a:schemeClr val="dk1"/>
                </a:solidFill>
                <a:latin typeface="Raleway"/>
                <a:ea typeface="Raleway"/>
                <a:cs typeface="Raleway"/>
                <a:sym typeface="Raleway"/>
              </a:rPr>
              <a:t>.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3659786" y="1363302"/>
            <a:ext cx="5118454" cy="3016210"/>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Clr>
                <a:srgbClr val="000000"/>
              </a:buClr>
              <a:buSzPts val="1200"/>
              <a:buFont typeface="Arial"/>
              <a:buNone/>
            </a:pPr>
            <a:r>
              <a:rPr b="1" i="0" lang="pl-PL" sz="1200" u="none" cap="none" strike="noStrike">
                <a:solidFill>
                  <a:schemeClr val="dk1"/>
                </a:solidFill>
                <a:latin typeface="Raleway"/>
                <a:ea typeface="Raleway"/>
                <a:cs typeface="Raleway"/>
                <a:sym typeface="Raleway"/>
              </a:rPr>
              <a:t>KEY RESULTS</a:t>
            </a:r>
            <a:endParaRPr b="1" i="0" sz="1200" u="none" cap="none" strike="noStrike">
              <a:solidFill>
                <a:schemeClr val="dk1"/>
              </a:solidFill>
              <a:latin typeface="Raleway"/>
              <a:ea typeface="Raleway"/>
              <a:cs typeface="Raleway"/>
              <a:sym typeface="Raleway"/>
            </a:endParaRPr>
          </a:p>
          <a:p>
            <a:pPr indent="0" lvl="0" marL="11430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Raleway"/>
              <a:ea typeface="Raleway"/>
              <a:cs typeface="Raleway"/>
              <a:sym typeface="Raleway"/>
            </a:endParaRPr>
          </a:p>
          <a:p>
            <a:pPr indent="-171450" lvl="0" marL="285750" marR="0" rtl="0" algn="l">
              <a:lnSpc>
                <a:spcPct val="100000"/>
              </a:lnSpc>
              <a:spcBef>
                <a:spcPts val="0"/>
              </a:spcBef>
              <a:spcAft>
                <a:spcPts val="0"/>
              </a:spcAft>
              <a:buClr>
                <a:srgbClr val="000000"/>
              </a:buClr>
              <a:buSzPts val="1200"/>
              <a:buFont typeface="Arial"/>
              <a:buChar char="•"/>
            </a:pPr>
            <a:r>
              <a:rPr b="0" i="0" lang="pl-PL" sz="1200" u="none" cap="none" strike="noStrike">
                <a:solidFill>
                  <a:schemeClr val="dk1"/>
                </a:solidFill>
                <a:latin typeface="Raleway"/>
                <a:ea typeface="Raleway"/>
                <a:cs typeface="Raleway"/>
                <a:sym typeface="Raleway"/>
              </a:rPr>
              <a:t>zmniejszenie kosztów zakupu o 10% (target),</a:t>
            </a:r>
            <a:endParaRPr b="0" i="0" sz="1200" u="none" cap="none" strike="noStrike">
              <a:solidFill>
                <a:schemeClr val="dk1"/>
              </a:solidFill>
              <a:latin typeface="Raleway"/>
              <a:ea typeface="Raleway"/>
              <a:cs typeface="Raleway"/>
              <a:sym typeface="Raleway"/>
            </a:endParaRPr>
          </a:p>
          <a:p>
            <a:pPr indent="-171450" lvl="0" marL="285750" marR="0" rtl="0" algn="l">
              <a:lnSpc>
                <a:spcPct val="100000"/>
              </a:lnSpc>
              <a:spcBef>
                <a:spcPts val="0"/>
              </a:spcBef>
              <a:spcAft>
                <a:spcPts val="0"/>
              </a:spcAft>
              <a:buClr>
                <a:srgbClr val="000000"/>
              </a:buClr>
              <a:buSzPts val="1200"/>
              <a:buFont typeface="Arial"/>
              <a:buChar char="•"/>
            </a:pPr>
            <a:r>
              <a:rPr b="0" i="0" lang="pl-PL" sz="1200" u="none" cap="none" strike="noStrike">
                <a:solidFill>
                  <a:schemeClr val="dk1"/>
                </a:solidFill>
                <a:latin typeface="Raleway"/>
                <a:ea typeface="Raleway"/>
                <a:cs typeface="Raleway"/>
                <a:sym typeface="Raleway"/>
              </a:rPr>
              <a:t>zautomatyzowanie analizy ofert dostawców oraz analizy rynkowej, skracając czas oceny o min. 50%,</a:t>
            </a:r>
            <a:endParaRPr b="0" i="0" sz="1200" u="none" cap="none" strike="noStrike">
              <a:solidFill>
                <a:schemeClr val="dk1"/>
              </a:solidFill>
              <a:latin typeface="Raleway"/>
              <a:ea typeface="Raleway"/>
              <a:cs typeface="Raleway"/>
              <a:sym typeface="Raleway"/>
            </a:endParaRPr>
          </a:p>
          <a:p>
            <a:pPr indent="-171450" lvl="0" marL="285750" marR="0" rtl="0" algn="l">
              <a:lnSpc>
                <a:spcPct val="100000"/>
              </a:lnSpc>
              <a:spcBef>
                <a:spcPts val="0"/>
              </a:spcBef>
              <a:spcAft>
                <a:spcPts val="0"/>
              </a:spcAft>
              <a:buClr>
                <a:srgbClr val="000000"/>
              </a:buClr>
              <a:buSzPts val="1200"/>
              <a:buFont typeface="Arial"/>
              <a:buChar char="•"/>
            </a:pPr>
            <a:r>
              <a:rPr b="0" i="0" lang="pl-PL" sz="1200" u="none" cap="none" strike="noStrike">
                <a:solidFill>
                  <a:schemeClr val="dk1"/>
                </a:solidFill>
                <a:latin typeface="Raleway"/>
                <a:ea typeface="Raleway"/>
                <a:cs typeface="Raleway"/>
                <a:sym typeface="Raleway"/>
              </a:rPr>
              <a:t>zbieranie i porządkowanie danych ze źródeł z skutecznością 95%,</a:t>
            </a:r>
            <a:endParaRPr b="0" i="0" sz="1200" u="none" cap="none" strike="noStrike">
              <a:solidFill>
                <a:schemeClr val="dk1"/>
              </a:solidFill>
              <a:latin typeface="Raleway"/>
              <a:ea typeface="Raleway"/>
              <a:cs typeface="Raleway"/>
              <a:sym typeface="Raleway"/>
            </a:endParaRPr>
          </a:p>
          <a:p>
            <a:pPr indent="-171450" lvl="0" marL="285750" marR="0" rtl="0" algn="l">
              <a:lnSpc>
                <a:spcPct val="100000"/>
              </a:lnSpc>
              <a:spcBef>
                <a:spcPts val="0"/>
              </a:spcBef>
              <a:spcAft>
                <a:spcPts val="0"/>
              </a:spcAft>
              <a:buClr>
                <a:srgbClr val="000000"/>
              </a:buClr>
              <a:buSzPts val="1200"/>
              <a:buFont typeface="Arial"/>
              <a:buChar char="•"/>
            </a:pPr>
            <a:r>
              <a:rPr b="0" i="0" lang="pl-PL" sz="1200" u="none" cap="none" strike="noStrike">
                <a:solidFill>
                  <a:schemeClr val="dk1"/>
                </a:solidFill>
                <a:latin typeface="Raleway"/>
                <a:ea typeface="Raleway"/>
                <a:cs typeface="Raleway"/>
                <a:sym typeface="Raleway"/>
              </a:rPr>
              <a:t>przewidywanie trendów cenowych z skutecznością 80%,</a:t>
            </a:r>
            <a:endParaRPr b="0" i="0" sz="1200" u="none" cap="none" strike="noStrike">
              <a:solidFill>
                <a:schemeClr val="dk1"/>
              </a:solidFill>
              <a:latin typeface="Raleway"/>
              <a:ea typeface="Raleway"/>
              <a:cs typeface="Raleway"/>
              <a:sym typeface="Raleway"/>
            </a:endParaRPr>
          </a:p>
          <a:p>
            <a:pPr indent="-171450" lvl="0" marL="285750" marR="0" rtl="0" algn="l">
              <a:lnSpc>
                <a:spcPct val="100000"/>
              </a:lnSpc>
              <a:spcBef>
                <a:spcPts val="0"/>
              </a:spcBef>
              <a:spcAft>
                <a:spcPts val="0"/>
              </a:spcAft>
              <a:buClr>
                <a:srgbClr val="000000"/>
              </a:buClr>
              <a:buSzPts val="1200"/>
              <a:buFont typeface="Arial"/>
              <a:buChar char="•"/>
            </a:pPr>
            <a:r>
              <a:rPr b="0" i="0" lang="pl-PL" sz="1200" u="none" cap="none" strike="noStrike">
                <a:solidFill>
                  <a:schemeClr val="dk1"/>
                </a:solidFill>
                <a:latin typeface="Raleway"/>
                <a:ea typeface="Raleway"/>
                <a:cs typeface="Raleway"/>
                <a:sym typeface="Raleway"/>
              </a:rPr>
              <a:t>wykonywanie raportów zawierających analizę obecnych cen, prognozę trendów oraz rekomendacje zakupowe porównujące najlepsze oferty.</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3" title="Szablon prezentacji dla uczestników (4).png"/>
          <p:cNvPicPr preferRelativeResize="0"/>
          <p:nvPr/>
        </p:nvPicPr>
        <p:blipFill rotWithShape="1">
          <a:blip r:embed="rId3">
            <a:alphaModFix/>
          </a:blip>
          <a:srcRect b="38977" l="7514" r="66734" t="10665"/>
          <a:stretch/>
        </p:blipFill>
        <p:spPr>
          <a:xfrm>
            <a:off x="8072875" y="700313"/>
            <a:ext cx="1133198" cy="3080600"/>
          </a:xfrm>
          <a:prstGeom prst="rect">
            <a:avLst/>
          </a:prstGeom>
          <a:noFill/>
          <a:ln>
            <a:noFill/>
          </a:ln>
        </p:spPr>
      </p:pic>
      <p:pic>
        <p:nvPicPr>
          <p:cNvPr id="76" name="Google Shape;76;p3" title="Szablon prezentacji dla uczestników (4).png"/>
          <p:cNvPicPr preferRelativeResize="0"/>
          <p:nvPr/>
        </p:nvPicPr>
        <p:blipFill rotWithShape="1">
          <a:blip r:embed="rId3">
            <a:alphaModFix/>
          </a:blip>
          <a:srcRect b="41573" l="7034" r="67215" t="8069"/>
          <a:stretch/>
        </p:blipFill>
        <p:spPr>
          <a:xfrm>
            <a:off x="-20892" y="761012"/>
            <a:ext cx="1826113" cy="1084495"/>
          </a:xfrm>
          <a:prstGeom prst="rect">
            <a:avLst/>
          </a:prstGeom>
          <a:noFill/>
          <a:ln>
            <a:noFill/>
          </a:ln>
        </p:spPr>
      </p:pic>
      <p:sp>
        <p:nvSpPr>
          <p:cNvPr id="77" name="Google Shape;77;p3"/>
          <p:cNvSpPr txBox="1"/>
          <p:nvPr>
            <p:ph type="title"/>
          </p:nvPr>
        </p:nvSpPr>
        <p:spPr>
          <a:xfrm>
            <a:off x="457777" y="12761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707"/>
              <a:buFont typeface="Arial"/>
              <a:buNone/>
            </a:pPr>
            <a:r>
              <a:rPr b="1" lang="pl-PL" sz="1800">
                <a:solidFill>
                  <a:srgbClr val="672ED0"/>
                </a:solidFill>
                <a:latin typeface="Raleway"/>
                <a:ea typeface="Raleway"/>
                <a:cs typeface="Raleway"/>
                <a:sym typeface="Raleway"/>
              </a:rPr>
              <a:t>Kosmiczna mapa misji: kroki </a:t>
            </a:r>
            <a:endParaRPr b="1" sz="1800">
              <a:solidFill>
                <a:srgbClr val="672ED0"/>
              </a:solidFill>
              <a:latin typeface="Raleway"/>
              <a:ea typeface="Raleway"/>
              <a:cs typeface="Raleway"/>
              <a:sym typeface="Raleway"/>
            </a:endParaRPr>
          </a:p>
          <a:p>
            <a:pPr indent="0" lvl="0" marL="0" rtl="0" algn="l">
              <a:lnSpc>
                <a:spcPct val="100000"/>
              </a:lnSpc>
              <a:spcBef>
                <a:spcPts val="0"/>
              </a:spcBef>
              <a:spcAft>
                <a:spcPts val="0"/>
              </a:spcAft>
              <a:buSzPts val="2800"/>
              <a:buNone/>
            </a:pPr>
            <a:r>
              <a:t/>
            </a:r>
            <a:endParaRPr b="1" sz="1800">
              <a:solidFill>
                <a:srgbClr val="672ED0"/>
              </a:solidFill>
              <a:latin typeface="Raleway"/>
              <a:ea typeface="Raleway"/>
              <a:cs typeface="Raleway"/>
              <a:sym typeface="Raleway"/>
            </a:endParaRPr>
          </a:p>
        </p:txBody>
      </p:sp>
      <p:sp>
        <p:nvSpPr>
          <p:cNvPr id="78" name="Google Shape;78;p3"/>
          <p:cNvSpPr txBox="1"/>
          <p:nvPr>
            <p:ph idx="1" type="body"/>
          </p:nvPr>
        </p:nvSpPr>
        <p:spPr>
          <a:xfrm>
            <a:off x="40643" y="1089424"/>
            <a:ext cx="1851413" cy="1084757"/>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None/>
            </a:pPr>
            <a:r>
              <a:t/>
            </a:r>
            <a:endParaRPr sz="800">
              <a:solidFill>
                <a:schemeClr val="dk1"/>
              </a:solidFill>
              <a:latin typeface="Raleway"/>
              <a:ea typeface="Raleway"/>
              <a:cs typeface="Raleway"/>
              <a:sym typeface="Raleway"/>
            </a:endParaRPr>
          </a:p>
        </p:txBody>
      </p:sp>
      <p:pic>
        <p:nvPicPr>
          <p:cNvPr id="79" name="Google Shape;79;p3" title="Szablon prezentacji dla uczestników.png"/>
          <p:cNvPicPr preferRelativeResize="0"/>
          <p:nvPr/>
        </p:nvPicPr>
        <p:blipFill rotWithShape="1">
          <a:blip r:embed="rId4">
            <a:alphaModFix/>
          </a:blip>
          <a:srcRect b="85600" l="0" r="0" t="0"/>
          <a:stretch/>
        </p:blipFill>
        <p:spPr>
          <a:xfrm>
            <a:off x="48768" y="4402874"/>
            <a:ext cx="9144000" cy="740626"/>
          </a:xfrm>
          <a:prstGeom prst="rect">
            <a:avLst/>
          </a:prstGeom>
          <a:noFill/>
          <a:ln>
            <a:noFill/>
          </a:ln>
        </p:spPr>
      </p:pic>
      <p:pic>
        <p:nvPicPr>
          <p:cNvPr id="80" name="Google Shape;80;p3" title="Szablon prezentacji dla uczestników (4).png"/>
          <p:cNvPicPr preferRelativeResize="0"/>
          <p:nvPr/>
        </p:nvPicPr>
        <p:blipFill rotWithShape="1">
          <a:blip r:embed="rId3">
            <a:alphaModFix/>
          </a:blip>
          <a:srcRect b="41573" l="7034" r="67215" t="8069"/>
          <a:stretch/>
        </p:blipFill>
        <p:spPr>
          <a:xfrm>
            <a:off x="1827075" y="644826"/>
            <a:ext cx="1223477" cy="2309974"/>
          </a:xfrm>
          <a:prstGeom prst="rect">
            <a:avLst/>
          </a:prstGeom>
          <a:noFill/>
          <a:ln>
            <a:noFill/>
          </a:ln>
        </p:spPr>
      </p:pic>
      <p:sp>
        <p:nvSpPr>
          <p:cNvPr id="81" name="Google Shape;81;p3"/>
          <p:cNvSpPr/>
          <p:nvPr/>
        </p:nvSpPr>
        <p:spPr>
          <a:xfrm>
            <a:off x="3320755" y="1626721"/>
            <a:ext cx="1365900" cy="46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pl-PL" sz="800" u="none" cap="none" strike="noStrike">
                <a:solidFill>
                  <a:schemeClr val="dk1"/>
                </a:solidFill>
                <a:latin typeface="Raleway"/>
                <a:ea typeface="Raleway"/>
                <a:cs typeface="Raleway"/>
                <a:sym typeface="Raleway"/>
              </a:rPr>
              <a:t>Agent QA danych wejściowych</a:t>
            </a:r>
            <a:br>
              <a:rPr b="0" i="0" lang="pl-PL" sz="800" u="none" cap="none" strike="noStrike">
                <a:solidFill>
                  <a:schemeClr val="dk1"/>
                </a:solidFill>
                <a:latin typeface="Raleway"/>
                <a:ea typeface="Raleway"/>
                <a:cs typeface="Raleway"/>
                <a:sym typeface="Raleway"/>
              </a:rPr>
            </a:br>
            <a:r>
              <a:rPr b="0" i="0" lang="pl-PL" sz="800" u="none" cap="none" strike="noStrike">
                <a:solidFill>
                  <a:schemeClr val="dk1"/>
                </a:solidFill>
                <a:latin typeface="Raleway"/>
                <a:ea typeface="Raleway"/>
                <a:cs typeface="Raleway"/>
                <a:sym typeface="Raleway"/>
              </a:rPr>
              <a:t>. </a:t>
            </a:r>
            <a:endParaRPr b="0" i="0" sz="800" u="none" cap="none" strike="noStrike">
              <a:solidFill>
                <a:schemeClr val="dk1"/>
              </a:solidFill>
              <a:latin typeface="Raleway"/>
              <a:ea typeface="Raleway"/>
              <a:cs typeface="Raleway"/>
              <a:sym typeface="Raleway"/>
            </a:endParaRPr>
          </a:p>
        </p:txBody>
      </p:sp>
      <p:pic>
        <p:nvPicPr>
          <p:cNvPr id="82" name="Google Shape;82;p3" title="Szablon prezentacji dla uczestników (4).png"/>
          <p:cNvPicPr preferRelativeResize="0"/>
          <p:nvPr/>
        </p:nvPicPr>
        <p:blipFill rotWithShape="1">
          <a:blip r:embed="rId3">
            <a:alphaModFix/>
          </a:blip>
          <a:srcRect b="41573" l="7034" r="67215" t="8069"/>
          <a:stretch/>
        </p:blipFill>
        <p:spPr>
          <a:xfrm>
            <a:off x="3169025" y="667126"/>
            <a:ext cx="1666176" cy="1778001"/>
          </a:xfrm>
          <a:prstGeom prst="rect">
            <a:avLst/>
          </a:prstGeom>
          <a:noFill/>
          <a:ln>
            <a:noFill/>
          </a:ln>
        </p:spPr>
      </p:pic>
      <p:pic>
        <p:nvPicPr>
          <p:cNvPr id="83" name="Google Shape;83;p3" title="Szablon prezentacji dla uczestników (4).png"/>
          <p:cNvPicPr preferRelativeResize="0"/>
          <p:nvPr/>
        </p:nvPicPr>
        <p:blipFill rotWithShape="1">
          <a:blip r:embed="rId3">
            <a:alphaModFix/>
          </a:blip>
          <a:srcRect b="41573" l="7034" r="67215" t="8069"/>
          <a:stretch/>
        </p:blipFill>
        <p:spPr>
          <a:xfrm>
            <a:off x="3134042" y="2421875"/>
            <a:ext cx="1645982" cy="1090951"/>
          </a:xfrm>
          <a:prstGeom prst="rect">
            <a:avLst/>
          </a:prstGeom>
          <a:noFill/>
          <a:ln>
            <a:noFill/>
          </a:ln>
        </p:spPr>
      </p:pic>
      <p:sp>
        <p:nvSpPr>
          <p:cNvPr id="84" name="Google Shape;84;p3"/>
          <p:cNvSpPr/>
          <p:nvPr/>
        </p:nvSpPr>
        <p:spPr>
          <a:xfrm>
            <a:off x="3178206" y="2950850"/>
            <a:ext cx="1581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pl-PL" sz="800" u="none" cap="none" strike="noStrike">
                <a:solidFill>
                  <a:schemeClr val="dk1"/>
                </a:solidFill>
                <a:latin typeface="Raleway"/>
                <a:ea typeface="Raleway"/>
                <a:cs typeface="Raleway"/>
                <a:sym typeface="Raleway"/>
              </a:rPr>
              <a:t>Agent przewidujący trendy cenowe na podstawie zebranych danych.</a:t>
            </a:r>
            <a:endParaRPr b="0" i="0" sz="800" u="none" cap="none" strike="noStrike">
              <a:solidFill>
                <a:schemeClr val="dk1"/>
              </a:solidFill>
              <a:latin typeface="Raleway"/>
              <a:ea typeface="Raleway"/>
              <a:cs typeface="Raleway"/>
              <a:sym typeface="Raleway"/>
            </a:endParaRPr>
          </a:p>
        </p:txBody>
      </p:sp>
      <p:sp>
        <p:nvSpPr>
          <p:cNvPr id="85" name="Google Shape;85;p3"/>
          <p:cNvSpPr/>
          <p:nvPr/>
        </p:nvSpPr>
        <p:spPr>
          <a:xfrm>
            <a:off x="4317354" y="1821770"/>
            <a:ext cx="1687844"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br>
              <a:rPr b="0" i="0" lang="pl-PL" sz="1050" u="none" cap="none" strike="noStrike">
                <a:solidFill>
                  <a:srgbClr val="000000"/>
                </a:solidFill>
                <a:latin typeface="Arial"/>
                <a:ea typeface="Arial"/>
                <a:cs typeface="Arial"/>
                <a:sym typeface="Arial"/>
              </a:rPr>
            </a:br>
            <a:endParaRPr b="0" i="0" sz="1050" u="none" cap="none" strike="noStrike">
              <a:solidFill>
                <a:srgbClr val="000000"/>
              </a:solidFill>
              <a:latin typeface="Arial"/>
              <a:ea typeface="Arial"/>
              <a:cs typeface="Arial"/>
              <a:sym typeface="Arial"/>
            </a:endParaRPr>
          </a:p>
        </p:txBody>
      </p:sp>
      <p:sp>
        <p:nvSpPr>
          <p:cNvPr id="86" name="Google Shape;86;p3"/>
          <p:cNvSpPr/>
          <p:nvPr/>
        </p:nvSpPr>
        <p:spPr>
          <a:xfrm>
            <a:off x="6622248" y="1805511"/>
            <a:ext cx="1420200" cy="10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pl-PL" sz="800" u="none" cap="none" strike="noStrike">
                <a:solidFill>
                  <a:schemeClr val="dk1"/>
                </a:solidFill>
                <a:latin typeface="Raleway"/>
                <a:ea typeface="Raleway"/>
                <a:cs typeface="Raleway"/>
                <a:sym typeface="Raleway"/>
              </a:rPr>
              <a:t>Agent generujący raport na podstawie analizy obecnych cen oraz prognozy trendów wraz </a:t>
            </a:r>
            <a:endParaRPr b="0" i="0" sz="800" u="none" cap="none" strike="noStrike">
              <a:solidFill>
                <a:schemeClr val="dk1"/>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800"/>
              <a:buFont typeface="Arial"/>
              <a:buNone/>
            </a:pPr>
            <a:r>
              <a:rPr b="0" i="0" lang="pl-PL" sz="800" u="none" cap="none" strike="noStrike">
                <a:solidFill>
                  <a:schemeClr val="dk1"/>
                </a:solidFill>
                <a:latin typeface="Raleway"/>
                <a:ea typeface="Raleway"/>
                <a:cs typeface="Raleway"/>
                <a:sym typeface="Raleway"/>
              </a:rPr>
              <a:t>z rekomendacją zakupową.</a:t>
            </a:r>
            <a:br>
              <a:rPr b="0" i="0" lang="pl-PL"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cxnSp>
        <p:nvCxnSpPr>
          <p:cNvPr id="87" name="Google Shape;87;p3"/>
          <p:cNvCxnSpPr/>
          <p:nvPr/>
        </p:nvCxnSpPr>
        <p:spPr>
          <a:xfrm>
            <a:off x="2943029" y="1531856"/>
            <a:ext cx="347400" cy="0"/>
          </a:xfrm>
          <a:prstGeom prst="straightConnector1">
            <a:avLst/>
          </a:prstGeom>
          <a:noFill/>
          <a:ln cap="flat" cmpd="sng" w="19050">
            <a:solidFill>
              <a:srgbClr val="3B7FF2"/>
            </a:solidFill>
            <a:prstDash val="solid"/>
            <a:round/>
            <a:headEnd len="sm" w="sm" type="none"/>
            <a:tailEnd len="med" w="med" type="triangle"/>
          </a:ln>
        </p:spPr>
      </p:cxnSp>
      <p:cxnSp>
        <p:nvCxnSpPr>
          <p:cNvPr id="88" name="Google Shape;88;p3"/>
          <p:cNvCxnSpPr/>
          <p:nvPr/>
        </p:nvCxnSpPr>
        <p:spPr>
          <a:xfrm>
            <a:off x="7852242" y="2137575"/>
            <a:ext cx="347400" cy="0"/>
          </a:xfrm>
          <a:prstGeom prst="straightConnector1">
            <a:avLst/>
          </a:prstGeom>
          <a:noFill/>
          <a:ln cap="flat" cmpd="sng" w="19050">
            <a:solidFill>
              <a:srgbClr val="3B7FF2"/>
            </a:solidFill>
            <a:prstDash val="solid"/>
            <a:round/>
            <a:headEnd len="sm" w="sm" type="none"/>
            <a:tailEnd len="med" w="med" type="triangle"/>
          </a:ln>
        </p:spPr>
      </p:cxnSp>
      <p:cxnSp>
        <p:nvCxnSpPr>
          <p:cNvPr id="89" name="Google Shape;89;p3"/>
          <p:cNvCxnSpPr/>
          <p:nvPr/>
        </p:nvCxnSpPr>
        <p:spPr>
          <a:xfrm>
            <a:off x="4586536" y="2954806"/>
            <a:ext cx="347472" cy="0"/>
          </a:xfrm>
          <a:prstGeom prst="straightConnector1">
            <a:avLst/>
          </a:prstGeom>
          <a:noFill/>
          <a:ln cap="flat" cmpd="sng" w="19050">
            <a:solidFill>
              <a:srgbClr val="3B7FF2"/>
            </a:solidFill>
            <a:prstDash val="solid"/>
            <a:round/>
            <a:headEnd len="sm" w="sm" type="none"/>
            <a:tailEnd len="med" w="med" type="triangle"/>
          </a:ln>
        </p:spPr>
      </p:cxnSp>
      <p:cxnSp>
        <p:nvCxnSpPr>
          <p:cNvPr id="90" name="Google Shape;90;p3"/>
          <p:cNvCxnSpPr/>
          <p:nvPr/>
        </p:nvCxnSpPr>
        <p:spPr>
          <a:xfrm>
            <a:off x="1635822" y="2416831"/>
            <a:ext cx="347400" cy="0"/>
          </a:xfrm>
          <a:prstGeom prst="straightConnector1">
            <a:avLst/>
          </a:prstGeom>
          <a:noFill/>
          <a:ln cap="flat" cmpd="sng" w="19050">
            <a:solidFill>
              <a:srgbClr val="3B7FF2"/>
            </a:solidFill>
            <a:prstDash val="solid"/>
            <a:round/>
            <a:headEnd len="sm" w="sm" type="none"/>
            <a:tailEnd len="med" w="med" type="triangle"/>
          </a:ln>
        </p:spPr>
      </p:cxnSp>
      <p:pic>
        <p:nvPicPr>
          <p:cNvPr id="91" name="Google Shape;91;p3" title="hub_50dp_FF9000_FILL0_wght400_GRAD0_opsz48.png"/>
          <p:cNvPicPr preferRelativeResize="0"/>
          <p:nvPr/>
        </p:nvPicPr>
        <p:blipFill rotWithShape="1">
          <a:blip r:embed="rId5">
            <a:alphaModFix/>
          </a:blip>
          <a:srcRect b="0" l="0" r="0" t="0"/>
          <a:stretch/>
        </p:blipFill>
        <p:spPr>
          <a:xfrm>
            <a:off x="2215738" y="1187237"/>
            <a:ext cx="403599" cy="357268"/>
          </a:xfrm>
          <a:prstGeom prst="rect">
            <a:avLst/>
          </a:prstGeom>
          <a:noFill/>
          <a:ln>
            <a:noFill/>
          </a:ln>
        </p:spPr>
      </p:pic>
      <p:pic>
        <p:nvPicPr>
          <p:cNvPr id="92" name="Google Shape;92;p3" title="finance_mode_80dp_FF9000_FILL0_wght400_GRAD0_opsz48.png"/>
          <p:cNvPicPr preferRelativeResize="0"/>
          <p:nvPr/>
        </p:nvPicPr>
        <p:blipFill rotWithShape="1">
          <a:blip r:embed="rId6">
            <a:alphaModFix/>
          </a:blip>
          <a:srcRect b="0" l="0" r="0" t="0"/>
          <a:stretch/>
        </p:blipFill>
        <p:spPr>
          <a:xfrm>
            <a:off x="3752492" y="2627357"/>
            <a:ext cx="432265" cy="307623"/>
          </a:xfrm>
          <a:prstGeom prst="rect">
            <a:avLst/>
          </a:prstGeom>
          <a:noFill/>
          <a:ln>
            <a:noFill/>
          </a:ln>
        </p:spPr>
      </p:pic>
      <p:pic>
        <p:nvPicPr>
          <p:cNvPr id="93" name="Google Shape;93;p3" title="travel_explore_50dp_FF9000_FILL0_wght400_GRAD0_opsz48.png"/>
          <p:cNvPicPr preferRelativeResize="0"/>
          <p:nvPr/>
        </p:nvPicPr>
        <p:blipFill rotWithShape="1">
          <a:blip r:embed="rId7">
            <a:alphaModFix/>
          </a:blip>
          <a:srcRect b="0" l="0" r="0" t="0"/>
          <a:stretch/>
        </p:blipFill>
        <p:spPr>
          <a:xfrm>
            <a:off x="753667" y="920396"/>
            <a:ext cx="422326" cy="382258"/>
          </a:xfrm>
          <a:prstGeom prst="rect">
            <a:avLst/>
          </a:prstGeom>
          <a:noFill/>
          <a:ln>
            <a:noFill/>
          </a:ln>
        </p:spPr>
      </p:pic>
      <p:pic>
        <p:nvPicPr>
          <p:cNvPr id="94" name="Google Shape;94;p3" title="docs_80dp_FF9000_FILL0_wght400_GRAD0_opsz48.png"/>
          <p:cNvPicPr preferRelativeResize="0"/>
          <p:nvPr/>
        </p:nvPicPr>
        <p:blipFill rotWithShape="1">
          <a:blip r:embed="rId8">
            <a:alphaModFix/>
          </a:blip>
          <a:srcRect b="0" l="0" r="0" t="0"/>
          <a:stretch/>
        </p:blipFill>
        <p:spPr>
          <a:xfrm>
            <a:off x="7157075" y="1314691"/>
            <a:ext cx="476819" cy="434318"/>
          </a:xfrm>
          <a:prstGeom prst="rect">
            <a:avLst/>
          </a:prstGeom>
          <a:noFill/>
          <a:ln>
            <a:noFill/>
          </a:ln>
        </p:spPr>
      </p:pic>
      <p:sp>
        <p:nvSpPr>
          <p:cNvPr id="95" name="Google Shape;95;p3"/>
          <p:cNvSpPr txBox="1"/>
          <p:nvPr/>
        </p:nvSpPr>
        <p:spPr>
          <a:xfrm>
            <a:off x="-32916" y="1269062"/>
            <a:ext cx="1797516" cy="636870"/>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0"/>
              </a:spcAft>
              <a:buClr>
                <a:schemeClr val="dk1"/>
              </a:buClr>
              <a:buSzPts val="1100"/>
              <a:buFont typeface="Arial"/>
              <a:buNone/>
            </a:pPr>
            <a:r>
              <a:rPr b="0" i="0" lang="pl-PL" sz="800" u="none" cap="none" strike="noStrike">
                <a:solidFill>
                  <a:schemeClr val="dk1"/>
                </a:solidFill>
                <a:latin typeface="Raleway"/>
                <a:ea typeface="Raleway"/>
                <a:cs typeface="Raleway"/>
                <a:sym typeface="Raleway"/>
              </a:rPr>
              <a:t>Agent zbierający dane – oferty</a:t>
            </a:r>
            <a:endParaRPr b="0" i="0" sz="800" u="none" cap="none" strike="noStrike">
              <a:solidFill>
                <a:schemeClr val="dk1"/>
              </a:solidFill>
              <a:latin typeface="Raleway"/>
              <a:ea typeface="Raleway"/>
              <a:cs typeface="Raleway"/>
              <a:sym typeface="Raleway"/>
            </a:endParaRPr>
          </a:p>
        </p:txBody>
      </p:sp>
      <p:pic>
        <p:nvPicPr>
          <p:cNvPr id="96" name="Google Shape;96;p3" title="Szablon prezentacji dla uczestników (4).png"/>
          <p:cNvPicPr preferRelativeResize="0"/>
          <p:nvPr/>
        </p:nvPicPr>
        <p:blipFill rotWithShape="1">
          <a:blip r:embed="rId3">
            <a:alphaModFix/>
          </a:blip>
          <a:srcRect b="41573" l="7034" r="67215" t="8069"/>
          <a:stretch/>
        </p:blipFill>
        <p:spPr>
          <a:xfrm>
            <a:off x="-23839" y="1786444"/>
            <a:ext cx="1851413" cy="1084495"/>
          </a:xfrm>
          <a:prstGeom prst="rect">
            <a:avLst/>
          </a:prstGeom>
          <a:noFill/>
          <a:ln>
            <a:noFill/>
          </a:ln>
        </p:spPr>
      </p:pic>
      <p:pic>
        <p:nvPicPr>
          <p:cNvPr id="97" name="Google Shape;97;p3" title="travel_explore_50dp_FF9000_FILL0_wght400_GRAD0_opsz48.png"/>
          <p:cNvPicPr preferRelativeResize="0"/>
          <p:nvPr/>
        </p:nvPicPr>
        <p:blipFill rotWithShape="1">
          <a:blip r:embed="rId7">
            <a:alphaModFix/>
          </a:blip>
          <a:srcRect b="0" l="0" r="0" t="0"/>
          <a:stretch/>
        </p:blipFill>
        <p:spPr>
          <a:xfrm>
            <a:off x="753667" y="1946433"/>
            <a:ext cx="422326" cy="382258"/>
          </a:xfrm>
          <a:prstGeom prst="rect">
            <a:avLst/>
          </a:prstGeom>
          <a:noFill/>
          <a:ln>
            <a:noFill/>
          </a:ln>
        </p:spPr>
      </p:pic>
      <p:sp>
        <p:nvSpPr>
          <p:cNvPr id="98" name="Google Shape;98;p3"/>
          <p:cNvSpPr txBox="1"/>
          <p:nvPr/>
        </p:nvSpPr>
        <p:spPr>
          <a:xfrm>
            <a:off x="39124" y="2262746"/>
            <a:ext cx="1570363" cy="636870"/>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0"/>
              </a:spcAft>
              <a:buClr>
                <a:schemeClr val="dk1"/>
              </a:buClr>
              <a:buSzPts val="1100"/>
              <a:buFont typeface="Arial"/>
              <a:buNone/>
            </a:pPr>
            <a:r>
              <a:rPr b="0" i="0" lang="pl-PL" sz="800" u="none" cap="none" strike="noStrike">
                <a:solidFill>
                  <a:schemeClr val="dk1"/>
                </a:solidFill>
                <a:latin typeface="Raleway"/>
                <a:ea typeface="Raleway"/>
                <a:cs typeface="Raleway"/>
                <a:sym typeface="Raleway"/>
              </a:rPr>
              <a:t>Agent zbierający dane – giełda</a:t>
            </a:r>
            <a:br>
              <a:rPr b="0" i="0" lang="pl-PL" sz="800" u="none" cap="none" strike="noStrike">
                <a:solidFill>
                  <a:schemeClr val="dk1"/>
                </a:solidFill>
                <a:latin typeface="Raleway"/>
                <a:ea typeface="Raleway"/>
                <a:cs typeface="Raleway"/>
                <a:sym typeface="Raleway"/>
              </a:rPr>
            </a:br>
            <a:endParaRPr b="0" i="0" sz="800" u="none" cap="none" strike="noStrike">
              <a:solidFill>
                <a:schemeClr val="dk1"/>
              </a:solidFill>
              <a:latin typeface="Raleway"/>
              <a:ea typeface="Raleway"/>
              <a:cs typeface="Raleway"/>
              <a:sym typeface="Raleway"/>
            </a:endParaRPr>
          </a:p>
        </p:txBody>
      </p:sp>
      <p:pic>
        <p:nvPicPr>
          <p:cNvPr id="99" name="Google Shape;99;p3" title="Szablon prezentacji dla uczestników (4).png"/>
          <p:cNvPicPr preferRelativeResize="0"/>
          <p:nvPr/>
        </p:nvPicPr>
        <p:blipFill rotWithShape="1">
          <a:blip r:embed="rId3">
            <a:alphaModFix/>
          </a:blip>
          <a:srcRect b="41573" l="7034" r="67215" t="8069"/>
          <a:stretch/>
        </p:blipFill>
        <p:spPr>
          <a:xfrm>
            <a:off x="-44847" y="2733964"/>
            <a:ext cx="1846086" cy="1084495"/>
          </a:xfrm>
          <a:prstGeom prst="rect">
            <a:avLst/>
          </a:prstGeom>
          <a:noFill/>
          <a:ln>
            <a:noFill/>
          </a:ln>
        </p:spPr>
      </p:pic>
      <p:pic>
        <p:nvPicPr>
          <p:cNvPr id="100" name="Google Shape;100;p3" title="travel_explore_50dp_FF9000_FILL0_wght400_GRAD0_opsz48.png"/>
          <p:cNvPicPr preferRelativeResize="0"/>
          <p:nvPr/>
        </p:nvPicPr>
        <p:blipFill rotWithShape="1">
          <a:blip r:embed="rId7">
            <a:alphaModFix/>
          </a:blip>
          <a:srcRect b="0" l="0" r="0" t="0"/>
          <a:stretch/>
        </p:blipFill>
        <p:spPr>
          <a:xfrm>
            <a:off x="736641" y="2919492"/>
            <a:ext cx="422326" cy="382258"/>
          </a:xfrm>
          <a:prstGeom prst="rect">
            <a:avLst/>
          </a:prstGeom>
          <a:noFill/>
          <a:ln>
            <a:noFill/>
          </a:ln>
        </p:spPr>
      </p:pic>
      <p:sp>
        <p:nvSpPr>
          <p:cNvPr id="101" name="Google Shape;101;p3"/>
          <p:cNvSpPr txBox="1"/>
          <p:nvPr/>
        </p:nvSpPr>
        <p:spPr>
          <a:xfrm>
            <a:off x="94540" y="3214697"/>
            <a:ext cx="1797516" cy="514978"/>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0"/>
              </a:spcAft>
              <a:buClr>
                <a:schemeClr val="dk1"/>
              </a:buClr>
              <a:buSzPts val="1100"/>
              <a:buFont typeface="Arial"/>
              <a:buNone/>
            </a:pPr>
            <a:r>
              <a:rPr b="0" i="0" lang="pl-PL" sz="800" u="none" cap="none" strike="noStrike">
                <a:solidFill>
                  <a:schemeClr val="dk1"/>
                </a:solidFill>
                <a:latin typeface="Raleway"/>
                <a:ea typeface="Raleway"/>
                <a:cs typeface="Raleway"/>
                <a:sym typeface="Raleway"/>
              </a:rPr>
              <a:t>Agent zbierający</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100"/>
              <a:buFont typeface="Arial"/>
              <a:buNone/>
            </a:pPr>
            <a:r>
              <a:rPr b="0" i="0" lang="pl-PL" sz="800" u="none" cap="none" strike="noStrike">
                <a:solidFill>
                  <a:schemeClr val="dk1"/>
                </a:solidFill>
                <a:latin typeface="Raleway"/>
                <a:ea typeface="Raleway"/>
                <a:cs typeface="Raleway"/>
                <a:sym typeface="Raleway"/>
              </a:rPr>
              <a:t> dane geopolityczne</a:t>
            </a:r>
            <a:endParaRPr b="0" i="0" sz="8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1200"/>
              </a:spcAft>
              <a:buClr>
                <a:schemeClr val="dk2"/>
              </a:buClr>
              <a:buSzPts val="1800"/>
              <a:buFont typeface="Arial"/>
              <a:buNone/>
            </a:pPr>
            <a:r>
              <a:t/>
            </a:r>
            <a:endParaRPr b="0" i="0" sz="800" u="none" cap="none" strike="noStrike">
              <a:solidFill>
                <a:schemeClr val="dk1"/>
              </a:solidFill>
              <a:latin typeface="Raleway"/>
              <a:ea typeface="Raleway"/>
              <a:cs typeface="Raleway"/>
              <a:sym typeface="Raleway"/>
            </a:endParaRPr>
          </a:p>
        </p:txBody>
      </p:sp>
      <p:cxnSp>
        <p:nvCxnSpPr>
          <p:cNvPr id="102" name="Google Shape;102;p3"/>
          <p:cNvCxnSpPr/>
          <p:nvPr/>
        </p:nvCxnSpPr>
        <p:spPr>
          <a:xfrm>
            <a:off x="1635822" y="1532129"/>
            <a:ext cx="347400" cy="0"/>
          </a:xfrm>
          <a:prstGeom prst="straightConnector1">
            <a:avLst/>
          </a:prstGeom>
          <a:noFill/>
          <a:ln cap="flat" cmpd="sng" w="19050">
            <a:solidFill>
              <a:srgbClr val="3B7FF2"/>
            </a:solidFill>
            <a:prstDash val="solid"/>
            <a:round/>
            <a:headEnd len="sm" w="sm" type="none"/>
            <a:tailEnd len="med" w="med" type="triangle"/>
          </a:ln>
        </p:spPr>
      </p:cxnSp>
      <p:cxnSp>
        <p:nvCxnSpPr>
          <p:cNvPr id="103" name="Google Shape;103;p3"/>
          <p:cNvCxnSpPr/>
          <p:nvPr/>
        </p:nvCxnSpPr>
        <p:spPr>
          <a:xfrm flipH="1" rot="10800000">
            <a:off x="1676475" y="3207175"/>
            <a:ext cx="1624500" cy="6300"/>
          </a:xfrm>
          <a:prstGeom prst="straightConnector1">
            <a:avLst/>
          </a:prstGeom>
          <a:noFill/>
          <a:ln cap="flat" cmpd="sng" w="19050">
            <a:solidFill>
              <a:srgbClr val="3B7FF2"/>
            </a:solidFill>
            <a:prstDash val="solid"/>
            <a:round/>
            <a:headEnd len="sm" w="sm" type="none"/>
            <a:tailEnd len="med" w="med" type="triangle"/>
          </a:ln>
        </p:spPr>
      </p:cxnSp>
      <p:sp>
        <p:nvSpPr>
          <p:cNvPr id="104" name="Google Shape;104;p3"/>
          <p:cNvSpPr/>
          <p:nvPr/>
        </p:nvSpPr>
        <p:spPr>
          <a:xfrm>
            <a:off x="1564317" y="1784765"/>
            <a:ext cx="17490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pl-PL" sz="800" u="none" cap="none" strike="noStrike">
                <a:solidFill>
                  <a:schemeClr val="dk1"/>
                </a:solidFill>
                <a:latin typeface="Raleway"/>
                <a:ea typeface="Raleway"/>
                <a:cs typeface="Raleway"/>
                <a:sym typeface="Raleway"/>
              </a:rPr>
              <a:t>Agent </a:t>
            </a:r>
            <a:endParaRPr b="0" i="0" sz="800" u="none" cap="none" strike="noStrike">
              <a:solidFill>
                <a:schemeClr val="dk1"/>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800"/>
              <a:buFont typeface="Arial"/>
              <a:buNone/>
            </a:pPr>
            <a:r>
              <a:rPr b="0" i="0" lang="pl-PL" sz="800" u="none" cap="none" strike="noStrike">
                <a:solidFill>
                  <a:schemeClr val="dk1"/>
                </a:solidFill>
                <a:latin typeface="Raleway"/>
                <a:ea typeface="Raleway"/>
                <a:cs typeface="Raleway"/>
                <a:sym typeface="Raleway"/>
              </a:rPr>
              <a:t>strukturyzujący </a:t>
            </a:r>
            <a:endParaRPr b="0" i="0" sz="800" u="none" cap="none" strike="noStrike">
              <a:solidFill>
                <a:schemeClr val="dk1"/>
              </a:solidFill>
              <a:latin typeface="Raleway"/>
              <a:ea typeface="Raleway"/>
              <a:cs typeface="Raleway"/>
              <a:sym typeface="Raleway"/>
            </a:endParaRPr>
          </a:p>
          <a:p>
            <a:pPr indent="0" lvl="0" marL="0" marR="0" rtl="0" algn="ctr">
              <a:lnSpc>
                <a:spcPct val="100000"/>
              </a:lnSpc>
              <a:spcBef>
                <a:spcPts val="0"/>
              </a:spcBef>
              <a:spcAft>
                <a:spcPts val="0"/>
              </a:spcAft>
              <a:buClr>
                <a:srgbClr val="000000"/>
              </a:buClr>
              <a:buSzPts val="800"/>
              <a:buFont typeface="Arial"/>
              <a:buNone/>
            </a:pPr>
            <a:r>
              <a:rPr b="0" i="0" lang="pl-PL" sz="800" u="none" cap="none" strike="noStrike">
                <a:solidFill>
                  <a:schemeClr val="dk1"/>
                </a:solidFill>
                <a:latin typeface="Raleway"/>
                <a:ea typeface="Raleway"/>
                <a:cs typeface="Raleway"/>
                <a:sym typeface="Raleway"/>
              </a:rPr>
              <a:t>dane</a:t>
            </a:r>
            <a:endParaRPr/>
          </a:p>
        </p:txBody>
      </p:sp>
      <p:pic>
        <p:nvPicPr>
          <p:cNvPr id="105" name="Google Shape;105;p3" title="Szablon prezentacji dla uczestników (4).png"/>
          <p:cNvPicPr preferRelativeResize="0"/>
          <p:nvPr/>
        </p:nvPicPr>
        <p:blipFill rotWithShape="1">
          <a:blip r:embed="rId3">
            <a:alphaModFix/>
          </a:blip>
          <a:srcRect b="41573" l="7034" r="67215" t="8069"/>
          <a:stretch/>
        </p:blipFill>
        <p:spPr>
          <a:xfrm>
            <a:off x="6509362" y="503900"/>
            <a:ext cx="1645973" cy="3149399"/>
          </a:xfrm>
          <a:prstGeom prst="rect">
            <a:avLst/>
          </a:prstGeom>
          <a:noFill/>
          <a:ln>
            <a:noFill/>
          </a:ln>
        </p:spPr>
      </p:pic>
      <p:pic>
        <p:nvPicPr>
          <p:cNvPr id="106" name="Google Shape;106;p3" title="Szablon prezentacji dla uczestników (4).png"/>
          <p:cNvPicPr preferRelativeResize="0"/>
          <p:nvPr/>
        </p:nvPicPr>
        <p:blipFill rotWithShape="1">
          <a:blip r:embed="rId3">
            <a:alphaModFix/>
          </a:blip>
          <a:srcRect b="41573" l="7034" r="67215" t="8069"/>
          <a:stretch/>
        </p:blipFill>
        <p:spPr>
          <a:xfrm>
            <a:off x="4728622" y="2297243"/>
            <a:ext cx="1666186" cy="1110926"/>
          </a:xfrm>
          <a:prstGeom prst="rect">
            <a:avLst/>
          </a:prstGeom>
          <a:noFill/>
          <a:ln>
            <a:noFill/>
          </a:ln>
        </p:spPr>
      </p:pic>
      <p:sp>
        <p:nvSpPr>
          <p:cNvPr id="107" name="Google Shape;107;p3"/>
          <p:cNvSpPr/>
          <p:nvPr/>
        </p:nvSpPr>
        <p:spPr>
          <a:xfrm>
            <a:off x="7946157" y="2027213"/>
            <a:ext cx="1365900" cy="338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pl-PL" sz="800" u="none" cap="none" strike="noStrike">
                <a:solidFill>
                  <a:schemeClr val="dk1"/>
                </a:solidFill>
                <a:latin typeface="Raleway"/>
                <a:ea typeface="Raleway"/>
                <a:cs typeface="Raleway"/>
                <a:sym typeface="Raleway"/>
              </a:rPr>
              <a:t>Agent QA raportu</a:t>
            </a:r>
            <a:br>
              <a:rPr b="0" i="0" lang="pl-PL" sz="800" u="none" cap="none" strike="noStrike">
                <a:solidFill>
                  <a:schemeClr val="dk1"/>
                </a:solidFill>
                <a:latin typeface="Raleway"/>
                <a:ea typeface="Raleway"/>
                <a:cs typeface="Raleway"/>
                <a:sym typeface="Raleway"/>
              </a:rPr>
            </a:br>
            <a:r>
              <a:rPr b="0" i="0" lang="pl-PL" sz="800" u="none" cap="none" strike="noStrike">
                <a:solidFill>
                  <a:schemeClr val="dk1"/>
                </a:solidFill>
                <a:latin typeface="Raleway"/>
                <a:ea typeface="Raleway"/>
                <a:cs typeface="Raleway"/>
                <a:sym typeface="Raleway"/>
              </a:rPr>
              <a:t>. </a:t>
            </a:r>
            <a:endParaRPr b="0" i="0" sz="800" u="none" cap="none" strike="noStrike">
              <a:solidFill>
                <a:schemeClr val="dk1"/>
              </a:solidFill>
              <a:latin typeface="Raleway"/>
              <a:ea typeface="Raleway"/>
              <a:cs typeface="Raleway"/>
              <a:sym typeface="Raleway"/>
            </a:endParaRPr>
          </a:p>
        </p:txBody>
      </p:sp>
      <p:pic>
        <p:nvPicPr>
          <p:cNvPr id="108" name="Google Shape;108;p3" title="Szablon prezentacji dla uczestników (4).png"/>
          <p:cNvPicPr preferRelativeResize="0"/>
          <p:nvPr/>
        </p:nvPicPr>
        <p:blipFill rotWithShape="1">
          <a:blip r:embed="rId3">
            <a:alphaModFix/>
          </a:blip>
          <a:srcRect b="41573" l="7034" r="67215" t="8069"/>
          <a:stretch/>
        </p:blipFill>
        <p:spPr>
          <a:xfrm>
            <a:off x="4820562" y="996098"/>
            <a:ext cx="1666185" cy="1110925"/>
          </a:xfrm>
          <a:prstGeom prst="rect">
            <a:avLst/>
          </a:prstGeom>
          <a:noFill/>
          <a:ln>
            <a:noFill/>
          </a:ln>
        </p:spPr>
      </p:pic>
      <p:sp>
        <p:nvSpPr>
          <p:cNvPr id="109" name="Google Shape;109;p3"/>
          <p:cNvSpPr/>
          <p:nvPr/>
        </p:nvSpPr>
        <p:spPr>
          <a:xfrm>
            <a:off x="4669764" y="2925950"/>
            <a:ext cx="1817994"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pl-PL" sz="800" u="none" cap="none" strike="noStrike">
                <a:solidFill>
                  <a:schemeClr val="dk1"/>
                </a:solidFill>
                <a:latin typeface="Raleway"/>
                <a:ea typeface="Raleway"/>
                <a:cs typeface="Raleway"/>
                <a:sym typeface="Raleway"/>
              </a:rPr>
              <a:t>Agent QA prognoz</a:t>
            </a:r>
            <a:br>
              <a:rPr b="0" i="0" lang="pl-PL" sz="800" u="none" cap="none" strike="noStrike">
                <a:solidFill>
                  <a:schemeClr val="dk1"/>
                </a:solidFill>
                <a:latin typeface="Raleway"/>
                <a:ea typeface="Raleway"/>
                <a:cs typeface="Raleway"/>
                <a:sym typeface="Raleway"/>
              </a:rPr>
            </a:br>
            <a:r>
              <a:rPr b="0" i="0" lang="pl-PL" sz="800" u="none" cap="none" strike="noStrike">
                <a:solidFill>
                  <a:schemeClr val="dk1"/>
                </a:solidFill>
                <a:latin typeface="Raleway"/>
                <a:ea typeface="Raleway"/>
                <a:cs typeface="Raleway"/>
                <a:sym typeface="Raleway"/>
              </a:rPr>
              <a:t>. </a:t>
            </a:r>
            <a:endParaRPr b="0" i="0" sz="800" u="none" cap="none" strike="noStrike">
              <a:solidFill>
                <a:schemeClr val="dk1"/>
              </a:solidFill>
              <a:latin typeface="Raleway"/>
              <a:ea typeface="Raleway"/>
              <a:cs typeface="Raleway"/>
              <a:sym typeface="Raleway"/>
            </a:endParaRPr>
          </a:p>
        </p:txBody>
      </p:sp>
      <p:sp>
        <p:nvSpPr>
          <p:cNvPr id="110" name="Google Shape;110;p3"/>
          <p:cNvSpPr/>
          <p:nvPr/>
        </p:nvSpPr>
        <p:spPr>
          <a:xfrm>
            <a:off x="4639545" y="1594777"/>
            <a:ext cx="2016640"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pl-PL" sz="800" u="none" cap="none" strike="noStrike">
                <a:solidFill>
                  <a:schemeClr val="dk1"/>
                </a:solidFill>
                <a:latin typeface="Raleway"/>
                <a:ea typeface="Raleway"/>
                <a:cs typeface="Raleway"/>
                <a:sym typeface="Raleway"/>
              </a:rPr>
              <a:t>Agent analizujący oferty</a:t>
            </a:r>
            <a:br>
              <a:rPr b="0" i="0" lang="pl-PL" sz="800" u="none" cap="none" strike="noStrike">
                <a:solidFill>
                  <a:schemeClr val="dk1"/>
                </a:solidFill>
                <a:latin typeface="Raleway"/>
                <a:ea typeface="Raleway"/>
                <a:cs typeface="Raleway"/>
                <a:sym typeface="Raleway"/>
              </a:rPr>
            </a:br>
            <a:br>
              <a:rPr b="0" i="0" lang="pl-PL" sz="800" u="none" cap="none" strike="noStrike">
                <a:solidFill>
                  <a:schemeClr val="dk1"/>
                </a:solidFill>
                <a:latin typeface="Raleway"/>
                <a:ea typeface="Raleway"/>
                <a:cs typeface="Raleway"/>
                <a:sym typeface="Raleway"/>
              </a:rPr>
            </a:br>
            <a:r>
              <a:rPr b="0" i="0" lang="pl-PL" sz="800" u="none" cap="none" strike="noStrike">
                <a:solidFill>
                  <a:schemeClr val="dk1"/>
                </a:solidFill>
                <a:latin typeface="Raleway"/>
                <a:ea typeface="Raleway"/>
                <a:cs typeface="Raleway"/>
                <a:sym typeface="Raleway"/>
              </a:rPr>
              <a:t>. </a:t>
            </a:r>
            <a:endParaRPr b="0" i="0" sz="800" u="none" cap="none" strike="noStrike">
              <a:solidFill>
                <a:schemeClr val="dk1"/>
              </a:solidFill>
              <a:latin typeface="Raleway"/>
              <a:ea typeface="Raleway"/>
              <a:cs typeface="Raleway"/>
              <a:sym typeface="Raleway"/>
            </a:endParaRPr>
          </a:p>
        </p:txBody>
      </p:sp>
      <p:cxnSp>
        <p:nvCxnSpPr>
          <p:cNvPr id="111" name="Google Shape;111;p3"/>
          <p:cNvCxnSpPr/>
          <p:nvPr/>
        </p:nvCxnSpPr>
        <p:spPr>
          <a:xfrm>
            <a:off x="6219082" y="2827722"/>
            <a:ext cx="414750" cy="0"/>
          </a:xfrm>
          <a:prstGeom prst="straightConnector1">
            <a:avLst/>
          </a:prstGeom>
          <a:noFill/>
          <a:ln cap="flat" cmpd="sng" w="19050">
            <a:solidFill>
              <a:srgbClr val="3B7FF2"/>
            </a:solidFill>
            <a:prstDash val="solid"/>
            <a:round/>
            <a:headEnd len="sm" w="sm" type="none"/>
            <a:tailEnd len="med" w="med" type="triangle"/>
          </a:ln>
        </p:spPr>
      </p:cxnSp>
      <p:cxnSp>
        <p:nvCxnSpPr>
          <p:cNvPr id="112" name="Google Shape;112;p3"/>
          <p:cNvCxnSpPr/>
          <p:nvPr/>
        </p:nvCxnSpPr>
        <p:spPr>
          <a:xfrm>
            <a:off x="4639543" y="1588295"/>
            <a:ext cx="347400" cy="0"/>
          </a:xfrm>
          <a:prstGeom prst="straightConnector1">
            <a:avLst/>
          </a:prstGeom>
          <a:noFill/>
          <a:ln cap="flat" cmpd="sng" w="19050">
            <a:solidFill>
              <a:srgbClr val="3B7FF2"/>
            </a:solidFill>
            <a:prstDash val="solid"/>
            <a:round/>
            <a:headEnd len="sm" w="sm" type="none"/>
            <a:tailEnd len="med" w="med" type="triangle"/>
          </a:ln>
        </p:spPr>
      </p:cxnSp>
      <p:cxnSp>
        <p:nvCxnSpPr>
          <p:cNvPr id="113" name="Google Shape;113;p3"/>
          <p:cNvCxnSpPr/>
          <p:nvPr/>
        </p:nvCxnSpPr>
        <p:spPr>
          <a:xfrm>
            <a:off x="6242682" y="1643928"/>
            <a:ext cx="379140" cy="0"/>
          </a:xfrm>
          <a:prstGeom prst="straightConnector1">
            <a:avLst/>
          </a:prstGeom>
          <a:noFill/>
          <a:ln cap="flat" cmpd="sng" w="19050">
            <a:solidFill>
              <a:srgbClr val="3B7FF2"/>
            </a:solidFill>
            <a:prstDash val="solid"/>
            <a:round/>
            <a:headEnd len="sm" w="sm" type="none"/>
            <a:tailEnd len="med" w="med" type="triangle"/>
          </a:ln>
        </p:spPr>
      </p:cxnSp>
      <p:pic>
        <p:nvPicPr>
          <p:cNvPr id="114" name="Google Shape;114;p3" title="extension_80dp_FF9000_FILL0_wght400_GRAD0_opsz48.png"/>
          <p:cNvPicPr preferRelativeResize="0"/>
          <p:nvPr/>
        </p:nvPicPr>
        <p:blipFill rotWithShape="1">
          <a:blip r:embed="rId9">
            <a:alphaModFix/>
          </a:blip>
          <a:srcRect b="0" l="0" r="0" t="0"/>
          <a:stretch/>
        </p:blipFill>
        <p:spPr>
          <a:xfrm>
            <a:off x="3751436" y="1100299"/>
            <a:ext cx="434388" cy="486506"/>
          </a:xfrm>
          <a:prstGeom prst="rect">
            <a:avLst/>
          </a:prstGeom>
          <a:noFill/>
          <a:ln>
            <a:noFill/>
          </a:ln>
        </p:spPr>
      </p:pic>
      <p:pic>
        <p:nvPicPr>
          <p:cNvPr id="115" name="Google Shape;115;p3" title="network_intel_node_50dp_FF9000_FILL0_wght400_GRAD0_opsz48.png"/>
          <p:cNvPicPr preferRelativeResize="0"/>
          <p:nvPr/>
        </p:nvPicPr>
        <p:blipFill rotWithShape="1">
          <a:blip r:embed="rId10">
            <a:alphaModFix/>
          </a:blip>
          <a:srcRect b="0" l="0" r="0" t="0"/>
          <a:stretch/>
        </p:blipFill>
        <p:spPr>
          <a:xfrm>
            <a:off x="5397493" y="1149510"/>
            <a:ext cx="467126" cy="510094"/>
          </a:xfrm>
          <a:prstGeom prst="rect">
            <a:avLst/>
          </a:prstGeom>
          <a:noFill/>
          <a:ln>
            <a:noFill/>
          </a:ln>
        </p:spPr>
      </p:pic>
      <p:pic>
        <p:nvPicPr>
          <p:cNvPr id="116" name="Google Shape;116;p3" title="fact_check_80dp_FF9000_FILL0_wght400_GRAD0_opsz48.png"/>
          <p:cNvPicPr preferRelativeResize="0"/>
          <p:nvPr/>
        </p:nvPicPr>
        <p:blipFill rotWithShape="1">
          <a:blip r:embed="rId11">
            <a:alphaModFix/>
          </a:blip>
          <a:srcRect b="0" l="0" r="0" t="0"/>
          <a:stretch/>
        </p:blipFill>
        <p:spPr>
          <a:xfrm>
            <a:off x="8365061" y="1369491"/>
            <a:ext cx="548830" cy="548855"/>
          </a:xfrm>
          <a:prstGeom prst="rect">
            <a:avLst/>
          </a:prstGeom>
          <a:noFill/>
          <a:ln>
            <a:noFill/>
          </a:ln>
        </p:spPr>
      </p:pic>
      <p:pic>
        <p:nvPicPr>
          <p:cNvPr id="117" name="Google Shape;117;p3" title="cloud_done_80dp_FF9000_FILL0_wght400_GRAD0_opsz48.png"/>
          <p:cNvPicPr preferRelativeResize="0"/>
          <p:nvPr/>
        </p:nvPicPr>
        <p:blipFill rotWithShape="1">
          <a:blip r:embed="rId12">
            <a:alphaModFix/>
          </a:blip>
          <a:srcRect b="0" l="0" r="0" t="0"/>
          <a:stretch/>
        </p:blipFill>
        <p:spPr>
          <a:xfrm>
            <a:off x="5355711" y="2493651"/>
            <a:ext cx="454271" cy="452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txBox="1"/>
          <p:nvPr>
            <p:ph type="title"/>
          </p:nvPr>
        </p:nvSpPr>
        <p:spPr>
          <a:xfrm>
            <a:off x="230277" y="-18561"/>
            <a:ext cx="8520600" cy="66630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zbierający dane – oferty</a:t>
            </a:r>
            <a:endParaRPr b="1" sz="2000">
              <a:solidFill>
                <a:srgbClr val="672ED0"/>
              </a:solidFill>
              <a:latin typeface="Raleway"/>
              <a:ea typeface="Raleway"/>
              <a:cs typeface="Raleway"/>
              <a:sym typeface="Raleway"/>
            </a:endParaRPr>
          </a:p>
        </p:txBody>
      </p:sp>
      <p:pic>
        <p:nvPicPr>
          <p:cNvPr id="123" name="Google Shape;123;p16"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24" name="Google Shape;124;p16"/>
          <p:cNvSpPr txBox="1"/>
          <p:nvPr>
            <p:ph idx="1" type="body"/>
          </p:nvPr>
        </p:nvSpPr>
        <p:spPr>
          <a:xfrm>
            <a:off x="57150" y="380908"/>
            <a:ext cx="9086850" cy="4154984"/>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Wirtualny analityk zakupowy zbierający i normalizujący oferty dostawców. Precyzyjny, techniczny, tabelaryczny, bez opinii – wyłącznie liczby i fakty. Bardzo dokładny, skrupulatny, zero domysłów, zawsze zachowuje tę samą strukturę danych. Odczytywanie ofert (cena, MOQ, lead time, waluta, Incoterms, warunki płatności). Normalizacja danych do jednego formatu (np. EUR, dni, kg). Uzupełnianie braków znacznikiem „N/A” i zwracanie spójnej tabeli do dalszej analizy.</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Lista_Dostawcow_do_Monitoringu.pdf; Wzor_Raportu_Cenowego.docx.pdf; strony www dostawców (URL z listy); publiczne cenniki i ogłoszenia branżowe.</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wspierany modułem OCR / ekstrakcji tabel z dokumentów (PDF, XLSX, e‑mail). ChatGPT 4.1 Mini lub Gemini Flash.</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0.1 – maksymalna precyzja, brak kreatywności.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1. Nigdy nie interpretuj treści ofert – tylko je odczytuj.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2. Zawsze stosuj jeden schemat tabeli dla wszystkich dostawców.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3. Cenę przeliczaj do wspólnej waluty (np. EUR).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4. Lead time zawsze podawaj w dniach.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5. Braki oznaczaj jako „N/A”.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6. Zawsze zapisuj źródło oferty (plik lub URL).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200"/>
              <a:buNone/>
            </a:pPr>
            <a:r>
              <a:rPr lang="pl-PL" sz="1200">
                <a:solidFill>
                  <a:schemeClr val="dk1"/>
                </a:solidFill>
                <a:latin typeface="Raleway"/>
                <a:ea typeface="Raleway"/>
                <a:cs typeface="Raleway"/>
                <a:sym typeface="Raleway"/>
              </a:rPr>
              <a:t>7. Nie prognozuj i nie oceniaj – to zadanie innych agentów.</a:t>
            </a:r>
            <a:endParaRPr sz="1200">
              <a:solidFill>
                <a:schemeClr val="dk1"/>
              </a:solidFill>
              <a:latin typeface="Raleway"/>
              <a:ea typeface="Raleway"/>
              <a:cs typeface="Raleway"/>
              <a:sym typeface="Raleway"/>
            </a:endParaRPr>
          </a:p>
        </p:txBody>
      </p:sp>
      <p:pic>
        <p:nvPicPr>
          <p:cNvPr id="125" name="Google Shape;125;p16" title="travel_explore_50dp_FF9000_FILL0_wght400_GRAD0_opsz48.png"/>
          <p:cNvPicPr preferRelativeResize="0"/>
          <p:nvPr/>
        </p:nvPicPr>
        <p:blipFill rotWithShape="1">
          <a:blip r:embed="rId4">
            <a:alphaModFix/>
          </a:blip>
          <a:srcRect b="0" l="0" r="0" t="0"/>
          <a:stretch/>
        </p:blipFill>
        <p:spPr>
          <a:xfrm>
            <a:off x="6639513" y="2874362"/>
            <a:ext cx="1377815" cy="12404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ph type="title"/>
          </p:nvPr>
        </p:nvSpPr>
        <p:spPr>
          <a:xfrm>
            <a:off x="230277" y="0"/>
            <a:ext cx="8520600" cy="66630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zbierający dane – giełda</a:t>
            </a:r>
            <a:br>
              <a:rPr b="1" lang="pl-PL" sz="2000">
                <a:solidFill>
                  <a:srgbClr val="672ED0"/>
                </a:solidFill>
                <a:highlight>
                  <a:srgbClr val="FFFF00"/>
                </a:highlight>
                <a:latin typeface="Raleway"/>
                <a:ea typeface="Raleway"/>
                <a:cs typeface="Raleway"/>
                <a:sym typeface="Raleway"/>
              </a:rPr>
            </a:br>
            <a:endParaRPr b="1" sz="2000">
              <a:solidFill>
                <a:srgbClr val="672ED0"/>
              </a:solidFill>
              <a:highlight>
                <a:srgbClr val="FFFF00"/>
              </a:highlight>
              <a:latin typeface="Raleway"/>
              <a:ea typeface="Raleway"/>
              <a:cs typeface="Raleway"/>
              <a:sym typeface="Raleway"/>
            </a:endParaRPr>
          </a:p>
        </p:txBody>
      </p:sp>
      <p:pic>
        <p:nvPicPr>
          <p:cNvPr id="131" name="Google Shape;131;p17"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32" name="Google Shape;132;p17"/>
          <p:cNvSpPr txBox="1"/>
          <p:nvPr>
            <p:ph idx="1" type="body"/>
          </p:nvPr>
        </p:nvSpPr>
        <p:spPr>
          <a:xfrm>
            <a:off x="230277" y="494935"/>
            <a:ext cx="8766766" cy="378565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Market &amp; Exchange Data Collector – analityk rynków surowcowych. Automatyczny zbieracz i normalizator danych giełdowych dla 20 indeksów surowców. Zwięzły, liczbowy, matematyczny – raportuje dane w formie tabel i serii czasowych. Stabilny, bardzo dokładny, zero kreatywności, wysoka dyscyplina numeryczna. Pobieranie bieżących i historycznych notowań surowców z giełd.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Lista_20_Indeksow_Surowcowych.pdf; raporty rynkowe (Rynek stali i aluminium, Rynek stali nierdzewnych, przeglądy sytuacji); LME; SHFE; Stooq; Bloomberg; Reuters; Bankier; Parkiet.</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zintegrowany z modułem pobierania i obróbki danych liczbowych (time‑series). GPT-4.1 lub Gemini 1.5 Pro</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0.0 – pełna deterministyczność, brak kreatywności.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Dane zawsze sortuj chronologicznie.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Każdy rekord musi zawierać datę i źródło.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przeliczaj ceny na wspólną jednostkę (np. EUR/kg).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Eliminuj oczywiste błędy i wartości skrajne.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prognozuj – tylko zbieraj i porządkuj dane.</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interpoluj braków – raportuj je jako brakujące.</a:t>
            </a:r>
            <a:endParaRPr sz="1200">
              <a:solidFill>
                <a:schemeClr val="dk1"/>
              </a:solidFill>
              <a:latin typeface="Raleway"/>
              <a:ea typeface="Raleway"/>
              <a:cs typeface="Raleway"/>
              <a:sym typeface="Raleway"/>
            </a:endParaRPr>
          </a:p>
        </p:txBody>
      </p:sp>
      <p:pic>
        <p:nvPicPr>
          <p:cNvPr id="133" name="Google Shape;133;p17" title="travel_explore_50dp_FF9000_FILL0_wght400_GRAD0_opsz48.png"/>
          <p:cNvPicPr preferRelativeResize="0"/>
          <p:nvPr/>
        </p:nvPicPr>
        <p:blipFill rotWithShape="1">
          <a:blip r:embed="rId4">
            <a:alphaModFix/>
          </a:blip>
          <a:srcRect b="0" l="0" r="0" t="0"/>
          <a:stretch/>
        </p:blipFill>
        <p:spPr>
          <a:xfrm>
            <a:off x="6639513" y="2874362"/>
            <a:ext cx="1377815" cy="12404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230277" y="155944"/>
            <a:ext cx="8520600" cy="666307"/>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41414"/>
              <a:buNone/>
            </a:pPr>
            <a:r>
              <a:rPr b="1" lang="pl-PL" sz="2200">
                <a:solidFill>
                  <a:srgbClr val="672ED0"/>
                </a:solidFill>
                <a:latin typeface="Raleway"/>
                <a:ea typeface="Raleway"/>
                <a:cs typeface="Raleway"/>
                <a:sym typeface="Raleway"/>
              </a:rPr>
              <a:t>Agent zbierający dane – sytuacja geopolityczna</a:t>
            </a:r>
            <a:br>
              <a:rPr b="1" lang="pl-PL">
                <a:solidFill>
                  <a:srgbClr val="672ED0"/>
                </a:solidFill>
                <a:latin typeface="Raleway"/>
                <a:ea typeface="Raleway"/>
                <a:cs typeface="Raleway"/>
                <a:sym typeface="Raleway"/>
              </a:rPr>
            </a:br>
            <a:endParaRPr b="1">
              <a:solidFill>
                <a:srgbClr val="672ED0"/>
              </a:solidFill>
              <a:latin typeface="Raleway"/>
              <a:ea typeface="Raleway"/>
              <a:cs typeface="Raleway"/>
              <a:sym typeface="Raleway"/>
            </a:endParaRPr>
          </a:p>
        </p:txBody>
      </p:sp>
      <p:pic>
        <p:nvPicPr>
          <p:cNvPr id="139" name="Google Shape;139;p18"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40" name="Google Shape;140;p18"/>
          <p:cNvSpPr txBox="1"/>
          <p:nvPr>
            <p:ph idx="1" type="body"/>
          </p:nvPr>
        </p:nvSpPr>
        <p:spPr>
          <a:xfrm>
            <a:off x="230278" y="801889"/>
            <a:ext cx="8683445" cy="3600986"/>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Geopolitical Data Collector – analityk globalnych wydarzeń wpływających na rynek surowców. Faktyczny, neutralny, zwięzły, raportowy – bez komentarza politycznego. Obiektywny, odporny na sensację, skupiony na wpływie biznesowym zamiast narracji medialnej.</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OECD Economic Outlook; World Bank Commodity Outlook; IMF WEO; UNCTAD; EIU; CFR Global Conflict Tracker; CSIS; EC Raw Materials Information System 🡪 PDF.</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z modułem klasyfikacji ryzyka i filtrowania informacji (news, raporty, komunikaty). GPT-4.1 Pro albo Gemini 1.5 Pro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0.0–0.2 – tylko fakty, minimalna elastyczność językowa.</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podawaj źródło i datę informacji.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Opisuj wyłącznie fakty, bez opinii i narracji politycznej.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Każdemu wydarzeniu przypisuj poziom wpływu na biznes (niski/średni/wysoki).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Łącz wydarzenia z konkretnymi kategoriami surowców.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Zwracaj dane w formie krótkich, strukturalnych rekordów.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twórz prognoz geopolitycznych – tylko opisuj stan.</a:t>
            </a:r>
            <a:endParaRPr sz="1200">
              <a:solidFill>
                <a:schemeClr val="dk1"/>
              </a:solidFill>
              <a:latin typeface="Raleway"/>
              <a:ea typeface="Raleway"/>
              <a:cs typeface="Raleway"/>
              <a:sym typeface="Raleway"/>
            </a:endParaRPr>
          </a:p>
        </p:txBody>
      </p:sp>
      <p:pic>
        <p:nvPicPr>
          <p:cNvPr id="141" name="Google Shape;141;p18" title="travel_explore_50dp_FF9000_FILL0_wght400_GRAD0_opsz48.png"/>
          <p:cNvPicPr preferRelativeResize="0"/>
          <p:nvPr/>
        </p:nvPicPr>
        <p:blipFill rotWithShape="1">
          <a:blip r:embed="rId4">
            <a:alphaModFix/>
          </a:blip>
          <a:srcRect b="0" l="0" r="0" t="0"/>
          <a:stretch/>
        </p:blipFill>
        <p:spPr>
          <a:xfrm>
            <a:off x="7194685" y="2912531"/>
            <a:ext cx="1377815" cy="12404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230277" y="0"/>
            <a:ext cx="8520600" cy="66630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strukturyzujący dane</a:t>
            </a:r>
            <a:endParaRPr b="1" sz="2000">
              <a:solidFill>
                <a:srgbClr val="672ED0"/>
              </a:solidFill>
              <a:latin typeface="Raleway"/>
              <a:ea typeface="Raleway"/>
              <a:cs typeface="Raleway"/>
              <a:sym typeface="Raleway"/>
            </a:endParaRPr>
          </a:p>
        </p:txBody>
      </p:sp>
      <p:pic>
        <p:nvPicPr>
          <p:cNvPr id="147" name="Google Shape;147;p21"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48" name="Google Shape;148;p21"/>
          <p:cNvSpPr txBox="1"/>
          <p:nvPr>
            <p:ph idx="1" type="body"/>
          </p:nvPr>
        </p:nvSpPr>
        <p:spPr>
          <a:xfrm>
            <a:off x="230278" y="372508"/>
            <a:ext cx="8683445" cy="4154984"/>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Data Integrator &amp; Standardizer – centralny integrator danych zakupowo‑rynkowych. Twórca master‑datasetu do analiz i prognoz. Techniczny, uporządkowany, tabelaryczny, bardzo formalny. Łączenie danych od agentów: oferty, giełda, geopolityka. Czyszczenie danych (duplikaty, braki, niespójne formaty) i ujednolicanie jednostek (waluta, waga, czas). Tworzenie jednej wspólnej tabeli wejściowej oraz oznaczanie jakości i kompletności rekordów.</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Dane wejściowe od agentów: oferty, giełda, geopolityka; Lista_20_Indeksow_Surowcowych.pdf; Lista_Dostawcow_do_Monitoringu.pdf; Wzor_Raportu_Cenowego.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wspierany logiką ETL (Extract–Transform–Load) i walidacją danych. GPT-4.1 Mini lub Gemini Flash</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0.0–0.1 – deterministyczne decyzje, brak kreatywnego generowania danych.</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Utrzymuj jedną, jasno zdefiniowaną strukturę kolumn.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Konwertuj wszystkie wartości do wspólnych jednostek.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Rekordy niekompletne oznaczaj lub odrzucaj zgodnie z regułami.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Nigdy nie zmieniaj znaczenia danych – tylko ich format.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Zapewniaj gotowość danych do dalszej analizy bez ręcznej obróbki. </a:t>
            </a:r>
            <a:endParaRPr sz="1200">
              <a:solidFill>
                <a:schemeClr val="dk1"/>
              </a:solidFill>
              <a:latin typeface="Raleway"/>
              <a:ea typeface="Raleway"/>
              <a:cs typeface="Raleway"/>
              <a:sym typeface="Raleway"/>
            </a:endParaRPr>
          </a:p>
          <a:p>
            <a:pPr indent="-342900" lvl="0" marL="3429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twórz nowych danych – pracuj wyłącznie na wejściu od innych agentów.</a:t>
            </a:r>
            <a:endParaRPr sz="1200">
              <a:solidFill>
                <a:schemeClr val="dk1"/>
              </a:solidFill>
              <a:latin typeface="Raleway"/>
              <a:ea typeface="Raleway"/>
              <a:cs typeface="Raleway"/>
              <a:sym typeface="Raleway"/>
            </a:endParaRPr>
          </a:p>
        </p:txBody>
      </p:sp>
      <p:pic>
        <p:nvPicPr>
          <p:cNvPr id="149" name="Google Shape;149;p21" title="extension_80dp_FF9000_FILL0_wght400_GRAD0_opsz48.png"/>
          <p:cNvPicPr preferRelativeResize="0"/>
          <p:nvPr/>
        </p:nvPicPr>
        <p:blipFill rotWithShape="1">
          <a:blip r:embed="rId4">
            <a:alphaModFix/>
          </a:blip>
          <a:srcRect b="0" l="0" r="0" t="0"/>
          <a:stretch/>
        </p:blipFill>
        <p:spPr>
          <a:xfrm>
            <a:off x="6924007" y="3145700"/>
            <a:ext cx="995349" cy="10344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ph type="title"/>
          </p:nvPr>
        </p:nvSpPr>
        <p:spPr>
          <a:xfrm>
            <a:off x="148854" y="0"/>
            <a:ext cx="8520600" cy="666307"/>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41414"/>
              <a:buNone/>
            </a:pPr>
            <a:r>
              <a:rPr b="1" lang="pl-PL" sz="2200">
                <a:solidFill>
                  <a:srgbClr val="672ED0"/>
                </a:solidFill>
                <a:latin typeface="Raleway"/>
                <a:ea typeface="Raleway"/>
                <a:cs typeface="Raleway"/>
                <a:sym typeface="Raleway"/>
              </a:rPr>
              <a:t>Agent QA danych wejściowych</a:t>
            </a:r>
            <a:br>
              <a:rPr b="1" lang="pl-PL">
                <a:solidFill>
                  <a:srgbClr val="672ED0"/>
                </a:solidFill>
                <a:latin typeface="Raleway"/>
                <a:ea typeface="Raleway"/>
                <a:cs typeface="Raleway"/>
                <a:sym typeface="Raleway"/>
              </a:rPr>
            </a:br>
            <a:endParaRPr b="1">
              <a:solidFill>
                <a:srgbClr val="672ED0"/>
              </a:solidFill>
              <a:latin typeface="Raleway"/>
              <a:ea typeface="Raleway"/>
              <a:cs typeface="Raleway"/>
              <a:sym typeface="Raleway"/>
            </a:endParaRPr>
          </a:p>
        </p:txBody>
      </p:sp>
      <p:pic>
        <p:nvPicPr>
          <p:cNvPr id="155" name="Google Shape;155;p19"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56" name="Google Shape;156;p19"/>
          <p:cNvSpPr txBox="1"/>
          <p:nvPr>
            <p:ph idx="1" type="body"/>
          </p:nvPr>
        </p:nvSpPr>
        <p:spPr>
          <a:xfrm>
            <a:off x="148854" y="340610"/>
            <a:ext cx="8683445" cy="3970318"/>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QA Input Data – kontroler jakości danych wejściowych. Kontroler jakości i spójności danych zebranych przez agentów zbierających. Analityczny, techniczny, ostrożny – listy błędów, ostrzeżeń i wskaźniki jakości. Dokładny, wymagający, wspierający – nie generuje nowych danych, tylko ocenia istniejące. Sprawdzanie kompletności danych (ceny, daty, waluty, lead time). Weryfikacja spójności formatów i jednostek. Identyfikacja duplikatów i rekordów podejrzanych. Ocena ogólnej jakości danych oraz generowanie listy alertów dla kolejnych agentów. </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Dane wyjściowe agentów zbierających (oferty, giełda, geopolityka); ustalone reguły walidacji i progi akceptowalności.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z zestawem reguł walidacyjnych oraz prostymi miarami statystycznymi jakości danych. GPT-4.1 Mini lub Gemini Flash</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0.0 – deterministyczne decyzje, zero kreatywności</a:t>
            </a:r>
            <a:r>
              <a:rPr b="1" lang="pl-PL" sz="1200">
                <a:solidFill>
                  <a:srgbClr val="672ED0"/>
                </a:solidFill>
                <a:latin typeface="Raleway"/>
                <a:ea typeface="Raleway"/>
                <a:cs typeface="Raleway"/>
                <a:sym typeface="Raleway"/>
              </a:rPr>
              <a:t>.</a:t>
            </a:r>
            <a:endParaRPr/>
          </a:p>
          <a:p>
            <a:pPr indent="0" lvl="0" marL="0" rtl="0" algn="l">
              <a:lnSpc>
                <a:spcPct val="100000"/>
              </a:lnSpc>
              <a:spcBef>
                <a:spcPts val="0"/>
              </a:spcBef>
              <a:spcAft>
                <a:spcPts val="0"/>
              </a:spcAft>
              <a:buClr>
                <a:schemeClr val="dk2"/>
              </a:buClr>
              <a:buSzPts val="1200"/>
              <a:buNone/>
            </a:pPr>
            <a:r>
              <a:t/>
            </a:r>
            <a:endParaRPr b="1" sz="1200">
              <a:solidFill>
                <a:srgbClr val="672ED0"/>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Nigdy nie poprawiaj danych – tylko je oznaczaj.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Flagi błędów muszą być jasne i zrozumiałe.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Każde ostrzeżenie powinno wskazywać konkretny rekord lub pole.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przepuszczaj dalej danych ewidentnie uszkodzonych.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raportuj ogólną jakość danych wejściowych.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Zgłoś krytyczny alert, jeśli skuteczność pobierania danych cenowych spadnie poniżej 90% (mniej niż 18 z 20 indeksów).</a:t>
            </a:r>
            <a:endParaRPr sz="1200">
              <a:solidFill>
                <a:schemeClr val="dk1"/>
              </a:solidFill>
              <a:latin typeface="Raleway"/>
              <a:ea typeface="Raleway"/>
              <a:cs typeface="Raleway"/>
              <a:sym typeface="Raleway"/>
            </a:endParaRPr>
          </a:p>
        </p:txBody>
      </p:sp>
      <p:pic>
        <p:nvPicPr>
          <p:cNvPr id="157" name="Google Shape;157;p19" title="hub_50dp_FF9000_FILL0_wght400_GRAD0_opsz48.png"/>
          <p:cNvPicPr preferRelativeResize="0"/>
          <p:nvPr/>
        </p:nvPicPr>
        <p:blipFill rotWithShape="1">
          <a:blip r:embed="rId4">
            <a:alphaModFix/>
          </a:blip>
          <a:srcRect b="0" l="0" r="0" t="0"/>
          <a:stretch/>
        </p:blipFill>
        <p:spPr>
          <a:xfrm>
            <a:off x="7317617" y="2884163"/>
            <a:ext cx="1042612" cy="8550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230277" y="-102208"/>
            <a:ext cx="8520600" cy="66630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przewidujący trendy</a:t>
            </a:r>
            <a:br>
              <a:rPr b="1" lang="pl-PL" sz="2000">
                <a:solidFill>
                  <a:srgbClr val="672ED0"/>
                </a:solidFill>
                <a:highlight>
                  <a:srgbClr val="FFFF00"/>
                </a:highlight>
                <a:latin typeface="Raleway"/>
                <a:ea typeface="Raleway"/>
                <a:cs typeface="Raleway"/>
                <a:sym typeface="Raleway"/>
              </a:rPr>
            </a:br>
            <a:endParaRPr b="1" sz="2000">
              <a:solidFill>
                <a:srgbClr val="672ED0"/>
              </a:solidFill>
              <a:highlight>
                <a:srgbClr val="FFFF00"/>
              </a:highlight>
              <a:latin typeface="Raleway"/>
              <a:ea typeface="Raleway"/>
              <a:cs typeface="Raleway"/>
              <a:sym typeface="Raleway"/>
            </a:endParaRPr>
          </a:p>
        </p:txBody>
      </p:sp>
      <p:pic>
        <p:nvPicPr>
          <p:cNvPr id="163" name="Google Shape;163;p22"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64" name="Google Shape;164;p22"/>
          <p:cNvSpPr txBox="1"/>
          <p:nvPr>
            <p:ph idx="1" type="body"/>
          </p:nvPr>
        </p:nvSpPr>
        <p:spPr>
          <a:xfrm>
            <a:off x="230278" y="471766"/>
            <a:ext cx="8683445" cy="3970318"/>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Price Trend Forecaster – analityk predykcyjny prognozujący kierunek zmian cen surowców. Modelarz / analityk ekonomiczny ds. prognoz cenowych. Analityczny, rzeczowy, techniczny, oparty na liczbach i wskaźnikach statystycznych. Analiza szeregów czasowych cen surowców. Identyfikacja trendów krótko- i średnioterminowych. Określanie kierunku zmiany (wzrost/spadek/stabilizacja) oraz poziomu pewności prognozy. Tworzenie scenariuszy (optymistyczny, bazowy, pesymistyczny) i przekazywanie wyników do Agenta raportującego. Matematyczny sposób myślenia, koncentracja na danych, wysoka ostrożność w formułowaniu prognoz.</a:t>
            </a:r>
            <a:endParaRPr b="1" sz="1200">
              <a:solidFill>
                <a:srgbClr val="672ED0"/>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Zintegrowane szeregi czasowe z master‑datasetu; dane historyczne z LME, SHFE, Stooq; raporty rynkowe i dane geopolityczne.</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w połączeniu z modelami szeregów czasowych (regresje, modele trendu, dekompozycja). GPT-4.1 Pro</a:t>
            </a:r>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0.3–0.4 – kontrolowana elastyczność przy zachowaniu stabilności modeli. </a:t>
            </a:r>
            <a:endParaRPr/>
          </a:p>
          <a:p>
            <a:pPr indent="0" lvl="0" marL="0" rtl="0" algn="l">
              <a:lnSpc>
                <a:spcPct val="100000"/>
              </a:lnSpc>
              <a:spcBef>
                <a:spcPts val="0"/>
              </a:spcBef>
              <a:spcAft>
                <a:spcPts val="0"/>
              </a:spcAft>
              <a:buClr>
                <a:schemeClr val="dk2"/>
              </a:buClr>
              <a:buSzPts val="1200"/>
              <a:buNone/>
            </a:pPr>
            <a:r>
              <a:t/>
            </a:r>
            <a:endParaRPr b="1"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Prognozuj wyłącznie kierunek trendu i wielkość zmiany, nie pojedyncze dokładne ceny.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Opieraj się tylko na danych dostarczonych przez innych agentów.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podawaj poziom pewności prognozy.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Wskazuj kluczowe czynniki (zmienność, ostatnie skoki cen, wydarzenia geopolityczne).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Unikaj kategorycznych stwierdzeń – operuj językiem prawdopodobieństwa.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Twórz prognozy krótko- (3–6 m-cy) i długoterminowe (6–12 m-cy) oraz testuj je na danych historycznych dla Agenta QA.</a:t>
            </a:r>
            <a:endParaRPr sz="1200">
              <a:solidFill>
                <a:schemeClr val="dk1"/>
              </a:solidFill>
              <a:latin typeface="Raleway"/>
              <a:ea typeface="Raleway"/>
              <a:cs typeface="Raleway"/>
              <a:sym typeface="Raleway"/>
            </a:endParaRPr>
          </a:p>
        </p:txBody>
      </p:sp>
      <p:pic>
        <p:nvPicPr>
          <p:cNvPr id="165" name="Google Shape;165;p22" title="finance_mode_80dp_FF9000_FILL0_wght400_GRAD0_opsz48.png"/>
          <p:cNvPicPr preferRelativeResize="0"/>
          <p:nvPr/>
        </p:nvPicPr>
        <p:blipFill rotWithShape="1">
          <a:blip r:embed="rId4">
            <a:alphaModFix/>
          </a:blip>
          <a:srcRect b="0" l="0" r="0" t="0"/>
          <a:stretch/>
        </p:blipFill>
        <p:spPr>
          <a:xfrm>
            <a:off x="7716477" y="3081491"/>
            <a:ext cx="1034400" cy="93167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230277" y="-80821"/>
            <a:ext cx="8520600" cy="666307"/>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QA prognoz</a:t>
            </a:r>
            <a:endParaRPr b="1" sz="2000">
              <a:solidFill>
                <a:srgbClr val="672ED0"/>
              </a:solidFill>
              <a:latin typeface="Raleway"/>
              <a:ea typeface="Raleway"/>
              <a:cs typeface="Raleway"/>
              <a:sym typeface="Raleway"/>
            </a:endParaRPr>
          </a:p>
        </p:txBody>
      </p:sp>
      <p:pic>
        <p:nvPicPr>
          <p:cNvPr id="171" name="Google Shape;171;p20"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72" name="Google Shape;172;p20"/>
          <p:cNvSpPr txBox="1"/>
          <p:nvPr>
            <p:ph idx="1" type="body"/>
          </p:nvPr>
        </p:nvSpPr>
        <p:spPr>
          <a:xfrm>
            <a:off x="230277" y="366156"/>
            <a:ext cx="8683445" cy="3970318"/>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Forecast QA – kontroler jakości prognoz trendów cenowych. Analityk jakości prognoz – backtesting i ocena trafności modeli. Rzeczowy, statystyczny, oparty na liczbach i porównaniach historycznych. Matematyczny, chłodny w ocenie, skupiony na realnych wynikach zamiast deklaracji. Porównywanie historycznych prognoz kierunku trendu z faktycznymi ruchami cen. Wyliczanie trafności prognoz dla poszczególnych surowców i grup surowców. Identyfikowanie obszarów, w których model jest słabszy lub niestabilny. Generowanie syntetycznych podsumowań jakości prognoz (np. trafność 3‑miesięczna).</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Archiwalne prognozy Agenta przewidującego trendy; historyczne dane giełdowe (LME, SHFE, Stooq) zapisane w master‑dataset.</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korzystający z metryk porównawczych (trafność, odchylenia) i prostego backtestingu. GPT-4.1 Pro lub Gemini 1.5 Pro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0.0 – pełna powtarzalność, brak kreatywnych interpretacji.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porównuj prognozę z rzeczywistymi danymi za ten sam okres.</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Raportuj trafność osobno dla każdej grupy surowców.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Wskazuj trendy w jakości modelu (poprawa / pogorszenie).</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zmieniaj prognoz – tylko je oceniaj.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Informuj, gdy jakość prognoz spada poniżej ustalonego progu.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Zgłoś krytyczny alert, jeśli trafność prognoz dla 5 głównych surowców spadnie poniżej 80%.</a:t>
            </a:r>
            <a:endParaRPr sz="1200">
              <a:solidFill>
                <a:schemeClr val="dk1"/>
              </a:solidFill>
              <a:latin typeface="Raleway"/>
              <a:ea typeface="Raleway"/>
              <a:cs typeface="Raleway"/>
              <a:sym typeface="Raleway"/>
            </a:endParaRPr>
          </a:p>
        </p:txBody>
      </p:sp>
      <p:pic>
        <p:nvPicPr>
          <p:cNvPr id="173" name="Google Shape;173;p20" title="cloud_done_80dp_FF9000_FILL0_wght400_GRAD0_opsz48.png"/>
          <p:cNvPicPr preferRelativeResize="0"/>
          <p:nvPr/>
        </p:nvPicPr>
        <p:blipFill rotWithShape="1">
          <a:blip r:embed="rId4">
            <a:alphaModFix/>
          </a:blip>
          <a:srcRect b="0" l="0" r="0" t="0"/>
          <a:stretch/>
        </p:blipFill>
        <p:spPr>
          <a:xfrm>
            <a:off x="7529972" y="3294306"/>
            <a:ext cx="952720" cy="86363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230276" y="0"/>
            <a:ext cx="8520600" cy="66630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analizujący oferty</a:t>
            </a:r>
            <a:br>
              <a:rPr b="1" lang="pl-PL" sz="2000">
                <a:solidFill>
                  <a:srgbClr val="672ED0"/>
                </a:solidFill>
                <a:latin typeface="Raleway"/>
                <a:ea typeface="Raleway"/>
                <a:cs typeface="Raleway"/>
                <a:sym typeface="Raleway"/>
              </a:rPr>
            </a:br>
            <a:endParaRPr b="1" sz="2000">
              <a:solidFill>
                <a:srgbClr val="672ED0"/>
              </a:solidFill>
              <a:latin typeface="Raleway"/>
              <a:ea typeface="Raleway"/>
              <a:cs typeface="Raleway"/>
              <a:sym typeface="Raleway"/>
            </a:endParaRPr>
          </a:p>
        </p:txBody>
      </p:sp>
      <p:pic>
        <p:nvPicPr>
          <p:cNvPr id="179" name="Google Shape;179;p24"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80" name="Google Shape;180;p24"/>
          <p:cNvSpPr txBox="1"/>
          <p:nvPr>
            <p:ph idx="1" type="body"/>
          </p:nvPr>
        </p:nvSpPr>
        <p:spPr>
          <a:xfrm>
            <a:off x="148854" y="340224"/>
            <a:ext cx="8683445" cy="4154984"/>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Offer Analyzer – wirtualny analityk zakupowy porównujący oferty dostawców. Analityk ofert dostawców i rynku. Konkretny, liczbowy, biznesowy, oparty na danych, bez marketing. Porównywanie ofert dostawców na wspólnym szablonie. Wyliczanie scoringu wg ustalonych wag (cena, lead time, MOQ, ryzyko, TCO). Tworzenie rankingu ofert i TOP3 rekomendacji oraz wskazywanie mocnych i słabych stron ofert. Bezstronny, ukierunkowany na KPI, silnie analityczny, zawsze uzasadnia rekomendację danymi.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Zintegrowana baza danych (master‑dataset) od Agenta strukturyzującego; Lista_Dostawcow_do_Monitoringu.pdf; Wzor_Raportu_Cenowego.</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z modułami scoringu, porównywania i benchmarkingu ofert. ChatGPT 4.1 Pro lub Gemini 1.5 Pro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a:t>
            </a:r>
            <a:r>
              <a:rPr lang="pl-PL" sz="1200">
                <a:solidFill>
                  <a:schemeClr val="dk1"/>
                </a:solidFill>
                <a:latin typeface="Raleway"/>
                <a:ea typeface="Raleway"/>
                <a:cs typeface="Raleway"/>
                <a:sym typeface="Raleway"/>
              </a:rPr>
              <a:t>: 0.3–0.5 – umiarkowana elastyczność przy zachowaniu ścisłej logiki.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Używaj tego samego wzoru scoringu dla wszystkich dostawców.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dopisuj opinii – bazuj wyłącznie na danych.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Wskazuj luki w danych i ograniczenia analizy.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generuj ranking oraz TOP3 oferty.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Uzasadniaj rekomendacje krótkim komentarzem opartym na liczbach.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Traktuj wszystkich dostawców jednakowo, bez stronniczości.</a:t>
            </a:r>
            <a:endParaRPr sz="1200">
              <a:solidFill>
                <a:schemeClr val="dk1"/>
              </a:solidFill>
              <a:latin typeface="Raleway"/>
              <a:ea typeface="Raleway"/>
              <a:cs typeface="Raleway"/>
              <a:sym typeface="Raleway"/>
            </a:endParaRPr>
          </a:p>
        </p:txBody>
      </p:sp>
      <p:pic>
        <p:nvPicPr>
          <p:cNvPr id="181" name="Google Shape;181;p24" title="network_intel_node_50dp_FF9000_FILL0_wght400_GRAD0_opsz48.png"/>
          <p:cNvPicPr preferRelativeResize="0"/>
          <p:nvPr/>
        </p:nvPicPr>
        <p:blipFill rotWithShape="1">
          <a:blip r:embed="rId4">
            <a:alphaModFix/>
          </a:blip>
          <a:srcRect b="0" l="0" r="0" t="0"/>
          <a:stretch/>
        </p:blipFill>
        <p:spPr>
          <a:xfrm>
            <a:off x="6649493" y="3094708"/>
            <a:ext cx="935128" cy="8649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148854" y="-80820"/>
            <a:ext cx="8520600" cy="66630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generujący raport</a:t>
            </a:r>
            <a:br>
              <a:rPr b="1" lang="pl-PL" sz="2000">
                <a:solidFill>
                  <a:srgbClr val="672ED0"/>
                </a:solidFill>
                <a:highlight>
                  <a:srgbClr val="FFFF00"/>
                </a:highlight>
                <a:latin typeface="Raleway"/>
                <a:ea typeface="Raleway"/>
                <a:cs typeface="Raleway"/>
                <a:sym typeface="Raleway"/>
              </a:rPr>
            </a:br>
            <a:endParaRPr b="1" sz="2000">
              <a:solidFill>
                <a:srgbClr val="672ED0"/>
              </a:solidFill>
              <a:highlight>
                <a:srgbClr val="FFFF00"/>
              </a:highlight>
              <a:latin typeface="Raleway"/>
              <a:ea typeface="Raleway"/>
              <a:cs typeface="Raleway"/>
              <a:sym typeface="Raleway"/>
            </a:endParaRPr>
          </a:p>
        </p:txBody>
      </p:sp>
      <p:pic>
        <p:nvPicPr>
          <p:cNvPr id="187" name="Google Shape;187;p25"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88" name="Google Shape;188;p25"/>
          <p:cNvSpPr txBox="1"/>
          <p:nvPr>
            <p:ph idx="1" type="body"/>
          </p:nvPr>
        </p:nvSpPr>
        <p:spPr>
          <a:xfrm>
            <a:off x="148854" y="290866"/>
            <a:ext cx="8683445" cy="4154984"/>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Procurement Report Generator – twórca końcowego raportu dla działu zakupów. Asystent ds. zamówień i trendów – generator raportu zakupowego. Zwięzły, uporządkowany, biznesowy, formalny – gotowy do użycia w prezentacjach. Generowanie raportu z trzema głównymi sekcjami: aktualne ceny, trendy, porównanie ofert. Łączenie danych i wyników wszystkich agentów. Tworzenie executive summary, rekomendacji biznesowych oraz elementów graficznych (tabele, wykresy). Nastawiony na klarowność, zrozumiałość i decyzje menedżerskie.</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Wyniki agentów: oferty, giełda, geopolityka, master‑dataset, analiza ofert, trendy; Wzor_Raportu_Cenowego.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z modułem agregacji danych i formatowania raportów. GPT-4.1 Pro lub Gemini 1.5 Pro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0.2 – lekka elastyczność przy pełnej wierności danym.</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a:t>
            </a:r>
            <a:r>
              <a:rPr lang="pl-PL" sz="1200">
                <a:solidFill>
                  <a:schemeClr val="dk1"/>
                </a:solidFill>
                <a:latin typeface="Raleway"/>
                <a:ea typeface="Raleway"/>
                <a:cs typeface="Raleway"/>
                <a:sym typeface="Raleway"/>
              </a:rPr>
              <a:t>: </a:t>
            </a:r>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Raport musi zawierać trzy sekcje: aktualne ceny, trendy, porównanie ofert.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Na początku dodawaj krótkie executive summary.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Każdy wniosek opieraj na danych z poprzednich agentów.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dodawaj własnych opinii – tylko wnioski z analizy.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kończ raport rekomendacją biznesową (np. kupować / negocjować / wstrzymać się) z liczbową interpretacją oszczędności.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Dodaj co najmniej jeden element graficzny (tabela lub wykres).</a:t>
            </a:r>
            <a:endParaRPr sz="1200">
              <a:solidFill>
                <a:schemeClr val="dk1"/>
              </a:solidFill>
              <a:latin typeface="Raleway"/>
              <a:ea typeface="Raleway"/>
              <a:cs typeface="Raleway"/>
              <a:sym typeface="Raleway"/>
            </a:endParaRPr>
          </a:p>
        </p:txBody>
      </p:sp>
      <p:pic>
        <p:nvPicPr>
          <p:cNvPr id="189" name="Google Shape;189;p25" title="docs_80dp_FF9000_FILL0_wght400_GRAD0_opsz48.png"/>
          <p:cNvPicPr preferRelativeResize="0"/>
          <p:nvPr/>
        </p:nvPicPr>
        <p:blipFill rotWithShape="1">
          <a:blip r:embed="rId4">
            <a:alphaModFix/>
          </a:blip>
          <a:srcRect b="0" l="0" r="0" t="0"/>
          <a:stretch/>
        </p:blipFill>
        <p:spPr>
          <a:xfrm>
            <a:off x="8048928" y="2571750"/>
            <a:ext cx="850143" cy="9488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230276" y="-38203"/>
            <a:ext cx="8520600" cy="66630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pl-PL" sz="2000">
                <a:solidFill>
                  <a:srgbClr val="672ED0"/>
                </a:solidFill>
                <a:latin typeface="Raleway"/>
                <a:ea typeface="Raleway"/>
                <a:cs typeface="Raleway"/>
                <a:sym typeface="Raleway"/>
              </a:rPr>
              <a:t>Agent QA raportu</a:t>
            </a:r>
            <a:br>
              <a:rPr b="1" lang="pl-PL" sz="2000">
                <a:solidFill>
                  <a:srgbClr val="672ED0"/>
                </a:solidFill>
                <a:latin typeface="Raleway"/>
                <a:ea typeface="Raleway"/>
                <a:cs typeface="Raleway"/>
                <a:sym typeface="Raleway"/>
              </a:rPr>
            </a:br>
            <a:endParaRPr b="1" sz="2000">
              <a:solidFill>
                <a:srgbClr val="672ED0"/>
              </a:solidFill>
              <a:latin typeface="Raleway"/>
              <a:ea typeface="Raleway"/>
              <a:cs typeface="Raleway"/>
              <a:sym typeface="Raleway"/>
            </a:endParaRPr>
          </a:p>
        </p:txBody>
      </p:sp>
      <p:pic>
        <p:nvPicPr>
          <p:cNvPr id="195" name="Google Shape;195;p23" title="Szablon prezentacji dla uczestników.png"/>
          <p:cNvPicPr preferRelativeResize="0"/>
          <p:nvPr/>
        </p:nvPicPr>
        <p:blipFill rotWithShape="1">
          <a:blip r:embed="rId3">
            <a:alphaModFix/>
          </a:blip>
          <a:srcRect b="85600" l="0" r="0" t="0"/>
          <a:stretch/>
        </p:blipFill>
        <p:spPr>
          <a:xfrm>
            <a:off x="0" y="4402875"/>
            <a:ext cx="9144000" cy="740626"/>
          </a:xfrm>
          <a:prstGeom prst="rect">
            <a:avLst/>
          </a:prstGeom>
          <a:noFill/>
          <a:ln>
            <a:noFill/>
          </a:ln>
        </p:spPr>
      </p:pic>
      <p:sp>
        <p:nvSpPr>
          <p:cNvPr id="196" name="Google Shape;196;p23"/>
          <p:cNvSpPr txBox="1"/>
          <p:nvPr>
            <p:ph idx="1" type="body"/>
          </p:nvPr>
        </p:nvSpPr>
        <p:spPr>
          <a:xfrm>
            <a:off x="148854" y="360412"/>
            <a:ext cx="8683445" cy="4154984"/>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osobowość/persona: </a:t>
            </a:r>
            <a:r>
              <a:rPr lang="pl-PL" sz="1200">
                <a:solidFill>
                  <a:schemeClr val="dk1"/>
                </a:solidFill>
                <a:latin typeface="Raleway"/>
                <a:ea typeface="Raleway"/>
                <a:cs typeface="Raleway"/>
                <a:sym typeface="Raleway"/>
              </a:rPr>
              <a:t>AI Report QA – weryfikator spójności i bezpieczeństwa raportu zakupowego. Agent kontrolujący końcowy raport pod kątem spójności z danymi i halucynacji. Krytyczny, skrupulatny, nastawiony na logikę i spójność biznesową. Sprawdzanie, czy wszystkie liczby i fakty w raporcie wynikają z danych źródłowych. Weryfikacja spójności między tabelami, wykresami i podsumowaniami. Wyłapywanie potencjalnych halucynacji oraz ocena zgodności rekomendacji z danymi i trendami. Dociekliwy, „adwokat diabła”, zorientowany na ochronę użytkownika przed błędnymi wnioskami.</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Serce: baza wiedzy/lista źródeł: </a:t>
            </a:r>
            <a:r>
              <a:rPr lang="pl-PL" sz="1200">
                <a:solidFill>
                  <a:schemeClr val="dk1"/>
                </a:solidFill>
                <a:latin typeface="Raleway"/>
                <a:ea typeface="Raleway"/>
                <a:cs typeface="Raleway"/>
                <a:sym typeface="Raleway"/>
              </a:rPr>
              <a:t>Końcowy raport generowany przez Agenta generującego raport; master‑dataset; wyniki agentów analitycznych (oferty, trendy, ryzyko).</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rodzaj modelu: </a:t>
            </a:r>
            <a:r>
              <a:rPr lang="pl-PL" sz="1200">
                <a:solidFill>
                  <a:schemeClr val="dk1"/>
                </a:solidFill>
                <a:latin typeface="Raleway"/>
                <a:ea typeface="Raleway"/>
                <a:cs typeface="Raleway"/>
                <a:sym typeface="Raleway"/>
              </a:rPr>
              <a:t>LLM z dostępem do raportu końcowego oraz danych źródłowych w celu ich porównania. GPT-4.1 Pro</a:t>
            </a:r>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Konstrukcja silnika: temperatura/poziom kreatywności: </a:t>
            </a:r>
            <a:r>
              <a:rPr lang="pl-PL" sz="1200">
                <a:solidFill>
                  <a:schemeClr val="dk1"/>
                </a:solidFill>
                <a:latin typeface="Raleway"/>
                <a:ea typeface="Raleway"/>
                <a:cs typeface="Raleway"/>
                <a:sym typeface="Raleway"/>
              </a:rPr>
              <a:t>0.1 – minimalna elastyczność w formułowaniu uwag, pełna wierność danym.</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2"/>
              </a:buClr>
              <a:buSzPts val="1200"/>
              <a:buNone/>
            </a:pPr>
            <a:r>
              <a:t/>
            </a:r>
            <a:endParaRPr sz="1200">
              <a:solidFill>
                <a:schemeClr val="dk1"/>
              </a:solidFill>
              <a:latin typeface="Raleway"/>
              <a:ea typeface="Raleway"/>
              <a:cs typeface="Raleway"/>
              <a:sym typeface="Raleway"/>
            </a:endParaRPr>
          </a:p>
          <a:p>
            <a:pPr indent="0" lvl="0" marL="0" rtl="0" algn="l">
              <a:lnSpc>
                <a:spcPct val="100000"/>
              </a:lnSpc>
              <a:spcBef>
                <a:spcPts val="0"/>
              </a:spcBef>
              <a:spcAft>
                <a:spcPts val="0"/>
              </a:spcAft>
              <a:buClr>
                <a:srgbClr val="672ED0"/>
              </a:buClr>
              <a:buSzPts val="1200"/>
              <a:buNone/>
            </a:pPr>
            <a:r>
              <a:rPr b="1" lang="pl-PL" sz="1200">
                <a:solidFill>
                  <a:srgbClr val="672ED0"/>
                </a:solidFill>
                <a:latin typeface="Raleway"/>
                <a:ea typeface="Raleway"/>
                <a:cs typeface="Raleway"/>
                <a:sym typeface="Raleway"/>
              </a:rPr>
              <a:t>Stacja weryfikacja: lista zasad: </a:t>
            </a:r>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Nie dopisuj własnych rekomendacji – oceniaj tylko istniejący raport.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Każdą niezgodność między raportem a danymi oznaczaj jednoznacznie.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Sygnalizuj brakujące sekcje lub kluczowe elementy.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Zawsze sprawdzaj, czy executive summary odpowiada treści raportu. </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Dbaj o to, by raport był bezpieczny biznesowo do pokazania decydentom.</a:t>
            </a:r>
            <a:endParaRPr sz="1200">
              <a:solidFill>
                <a:schemeClr val="dk1"/>
              </a:solidFill>
              <a:latin typeface="Raleway"/>
              <a:ea typeface="Raleway"/>
              <a:cs typeface="Raleway"/>
              <a:sym typeface="Raleway"/>
            </a:endParaRPr>
          </a:p>
          <a:p>
            <a:pPr indent="-228600" lvl="0" marL="228600" rtl="0" algn="l">
              <a:lnSpc>
                <a:spcPct val="100000"/>
              </a:lnSpc>
              <a:spcBef>
                <a:spcPts val="0"/>
              </a:spcBef>
              <a:spcAft>
                <a:spcPts val="0"/>
              </a:spcAft>
              <a:buClr>
                <a:schemeClr val="dk1"/>
              </a:buClr>
              <a:buSzPts val="1200"/>
              <a:buAutoNum type="arabicPeriod"/>
            </a:pPr>
            <a:r>
              <a:rPr lang="pl-PL" sz="1200">
                <a:solidFill>
                  <a:schemeClr val="dk1"/>
                </a:solidFill>
                <a:latin typeface="Raleway"/>
                <a:ea typeface="Raleway"/>
                <a:cs typeface="Raleway"/>
                <a:sym typeface="Raleway"/>
              </a:rPr>
              <a:t>Zgłoś krytyczny alert, jeśli w raporcie pojawią się dane nieistniejące w master‑dataset lub rekomendacje sprzeczne z trendami.</a:t>
            </a:r>
            <a:endParaRPr sz="1200">
              <a:solidFill>
                <a:schemeClr val="dk1"/>
              </a:solidFill>
              <a:latin typeface="Raleway"/>
              <a:ea typeface="Raleway"/>
              <a:cs typeface="Raleway"/>
              <a:sym typeface="Raleway"/>
            </a:endParaRPr>
          </a:p>
        </p:txBody>
      </p:sp>
      <p:pic>
        <p:nvPicPr>
          <p:cNvPr id="197" name="Google Shape;197;p23" title="fact_check_80dp_FF9000_FILL0_wght400_GRAD0_opsz48.png"/>
          <p:cNvPicPr preferRelativeResize="0"/>
          <p:nvPr/>
        </p:nvPicPr>
        <p:blipFill rotWithShape="1">
          <a:blip r:embed="rId4">
            <a:alphaModFix/>
          </a:blip>
          <a:srcRect b="0" l="0" r="0" t="0"/>
          <a:stretch/>
        </p:blipFill>
        <p:spPr>
          <a:xfrm>
            <a:off x="7128485" y="2849901"/>
            <a:ext cx="741886" cy="7406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Anna Kroehnke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0f7727a-510c-40ce-a418-7fdfc8e6513f_Enabled">
    <vt:lpwstr>true</vt:lpwstr>
  </property>
  <property fmtid="{D5CDD505-2E9C-101B-9397-08002B2CF9AE}" pid="3" name="MSIP_Label_00f7727a-510c-40ce-a418-7fdfc8e6513f_SetDate">
    <vt:lpwstr>2025-11-16T07:30:26Z</vt:lpwstr>
  </property>
  <property fmtid="{D5CDD505-2E9C-101B-9397-08002B2CF9AE}" pid="4" name="MSIP_Label_00f7727a-510c-40ce-a418-7fdfc8e6513f_Method">
    <vt:lpwstr>Standard</vt:lpwstr>
  </property>
  <property fmtid="{D5CDD505-2E9C-101B-9397-08002B2CF9AE}" pid="5" name="MSIP_Label_00f7727a-510c-40ce-a418-7fdfc8e6513f_Name">
    <vt:lpwstr>Classified (without encryption)</vt:lpwstr>
  </property>
  <property fmtid="{D5CDD505-2E9C-101B-9397-08002B2CF9AE}" pid="6" name="MSIP_Label_00f7727a-510c-40ce-a418-7fdfc8e6513f_SiteId">
    <vt:lpwstr>75b2f54b-feff-400d-8e0b-67102edb9a23</vt:lpwstr>
  </property>
  <property fmtid="{D5CDD505-2E9C-101B-9397-08002B2CF9AE}" pid="7" name="MSIP_Label_00f7727a-510c-40ce-a418-7fdfc8e6513f_ActionId">
    <vt:lpwstr>5a9615e2-57e9-4522-8064-0475989738ac</vt:lpwstr>
  </property>
  <property fmtid="{D5CDD505-2E9C-101B-9397-08002B2CF9AE}" pid="8" name="MSIP_Label_00f7727a-510c-40ce-a418-7fdfc8e6513f_ContentBits">
    <vt:lpwstr>1</vt:lpwstr>
  </property>
  <property fmtid="{D5CDD505-2E9C-101B-9397-08002B2CF9AE}" pid="9" name="MSIP_Label_00f7727a-510c-40ce-a418-7fdfc8e6513f_Tag">
    <vt:lpwstr>10, 3, 0, 1</vt:lpwstr>
  </property>
  <property fmtid="{D5CDD505-2E9C-101B-9397-08002B2CF9AE}" pid="10" name="ClassificationContentMarkingHeaderLocations">
    <vt:lpwstr>Simple Light:3</vt:lpwstr>
  </property>
  <property fmtid="{D5CDD505-2E9C-101B-9397-08002B2CF9AE}" pid="11" name="ClassificationContentMarkingHeaderText">
    <vt:lpwstr>Classified</vt:lpwstr>
  </property>
</Properties>
</file>